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展示定位：独立本地示例，不是已完成研究或完整 human G1–G5 生产链认证。内容为实验方案草图，不给出真实实验结论。烧杯图为本地生成的透明 PNG 单体素材。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方法定位参考 EPA Ireland 的饮用水处理管理手册以及 California State Water Resources Control Board 的 Jar Testing Made Easy 指南。这里只借鉴 jar test 作为比较混凝条件的实验框架，不复制成通用 SOP。剂量区间、pH 水平、重复数、搅拌/沉降程序均须结合原水、药剂和设备，在实施前写入本地方案。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矩阵是虚构版式示例，P1–P3 与 D1–D5 并非推荐水平或实测值。需依据水源水质、混凝剂类型、设备容量、研究问题和统计计划确定剂量/pH 水平、对照设置、重复数、随机化和数据排除规则。条件运行顺序应留痕。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图为生成的絮体透明 PNG 单体插图，仅作概念示意。步骤说明为方案级流程，不是经验证的操作程序。实际采样、快速/慢速混合、静置时长、测量方法、仪器校准和安全要求必须依适用标准、设备说明与机构 SOP 确定。任何偏差应记录并按预先规定处理。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 D1–D5 的 NTU 数值 16、11、8、9、12 均为编造的版式演示数据，非实验结果，不支持剂量优选、因果或性能结论。真实研究须记录原水背景、药剂与方法、随机化、重复数、测量误差/离散度和异常处理；本样稿刻意不展示虚构结论。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76072"/>
            <a:ext cx="53035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研究设计 / 方法方案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16152"/>
            <a:ext cx="585216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4200" b="1">
                <a:solidFill>
                  <a:srgbClr val="102C36"/>
                </a:solidFill>
                <a:latin typeface="Microsoft YaHei"/>
              </a:rPr>
              <a:t>烧杯试验
设计草案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71800"/>
            <a:ext cx="585216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400" b="0">
                <a:solidFill>
                  <a:srgbClr val="45616A"/>
                </a:solidFill>
                <a:latin typeface="Microsoft YaHei"/>
              </a:rPr>
              <a:t>把剂量与 pH 拆成可比较的条件，
让每一步都能复核。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4407408"/>
            <a:ext cx="4434840" cy="640080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53712"/>
            <a:ext cx="40690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方案演示 · 不代表已开展实验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6190488"/>
            <a:ext cx="6126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水处理实验设计｜本地展示样稿</a:t>
            </a:r>
          </a:p>
        </p:txBody>
      </p:sp>
      <p:pic>
        <p:nvPicPr>
          <p:cNvPr id="9" name="Picture 8" descr="jar-test-be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84048"/>
            <a:ext cx="3931920" cy="58978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45616A"/>
                </a:solidFill>
                <a:latin typeface="Microsoft YaHei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01 · 研究问题与观测定义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02C36"/>
                </a:solidFill>
                <a:latin typeface="Microsoft YaHei"/>
              </a:rPr>
              <a:t>先把问题变成可比较的变量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45616A"/>
                </a:solidFill>
                <a:latin typeface="Microsoft YaHei"/>
              </a:rPr>
              <a:t>02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64208"/>
            <a:ext cx="10954512" cy="877824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777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69B9B1"/>
                </a:solidFill>
                <a:latin typeface="Microsoft YaHei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784" y="1819656"/>
            <a:ext cx="9464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300" b="1">
                <a:solidFill>
                  <a:srgbClr val="FFFFFF"/>
                </a:solidFill>
                <a:latin typeface="Microsoft YaHei"/>
              </a:rPr>
              <a:t>在同一批原水条件下，混凝剂剂量（及预设 pH）如何改变沉后水浊度？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852928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090672"/>
            <a:ext cx="164592" cy="164592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999232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操纵因素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493008"/>
            <a:ext cx="3054096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剂量 D1–D5
可选 pH P1–P3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4315968"/>
            <a:ext cx="2999232" cy="0"/>
          </a:xfrm>
          <a:prstGeom prst="line">
            <a:avLst/>
          </a:prstGeom>
          <a:ln w="12700">
            <a:solidFill>
              <a:srgbClr val="CB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4480560"/>
            <a:ext cx="30540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先锁定水平，
再随机安排条件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2852928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3712" y="3090672"/>
            <a:ext cx="164592" cy="164592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2999232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主要响应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493008"/>
            <a:ext cx="3054096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上清浊度为主指标
记录沉前浊度与 pH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4315968"/>
            <a:ext cx="2999231" cy="0"/>
          </a:xfrm>
          <a:prstGeom prst="line">
            <a:avLst/>
          </a:prstGeom>
          <a:ln w="12700">
            <a:solidFill>
              <a:srgbClr val="CB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4480560"/>
            <a:ext cx="30540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固定仪器、位置与时点，
各组按同一规程操作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852928"/>
            <a:ext cx="347472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4464" y="3090672"/>
            <a:ext cx="164592" cy="164592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2999232"/>
            <a:ext cx="26517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控制条件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493008"/>
            <a:ext cx="3054096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统一原水与容器
固定混合/静置/取样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02752" y="4315968"/>
            <a:ext cx="2999232" cy="0"/>
          </a:xfrm>
          <a:prstGeom prst="line">
            <a:avLst/>
          </a:prstGeom>
          <a:ln w="12700">
            <a:solidFill>
              <a:srgbClr val="CB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02752" y="4480560"/>
            <a:ext cx="305409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重复数预先确定，
原始记录同步留存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5404104"/>
            <a:ext cx="10954512" cy="640080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559552"/>
            <a:ext cx="10378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实验参数须按原水特征、药剂与设备条件确定；本页不提供通用剂量或通用操作时间。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45616A"/>
                </a:solidFill>
                <a:latin typeface="Microsoft YaHei"/>
              </a:rPr>
              <a:t>方法背景：EPA Ireland（2002）；California SWRCB（2020）｜具体程序须本地化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02 · 因素组合与记录结构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02C36"/>
                </a:solidFill>
                <a:latin typeface="Microsoft YaHei"/>
              </a:rPr>
              <a:t>把条件表先画出来，再决定随机顺序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45616A"/>
                </a:solidFill>
                <a:latin typeface="Microsoft YaHei"/>
              </a:rPr>
              <a:t>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8686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每格代表一个待执行条件；格内 D / P 编码仅用于说明结构。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20240"/>
            <a:ext cx="2651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pH ↓  /  剂量 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1901952"/>
            <a:ext cx="1344168" cy="347472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194767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D1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901952"/>
            <a:ext cx="1344168" cy="347472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94767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D2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1901952"/>
            <a:ext cx="1344168" cy="347472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7952" y="194767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D3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5272" y="1901952"/>
            <a:ext cx="1344168" cy="347472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05272" y="194767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D4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2592" y="1901952"/>
            <a:ext cx="1344168" cy="347472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22592" y="194767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D5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331720"/>
            <a:ext cx="557784" cy="603504"/>
          </a:xfrm>
          <a:prstGeom prst="roundRect">
            <a:avLst>
              <a:gd name="adj" fmla="val 12000"/>
            </a:avLst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2459736"/>
            <a:ext cx="4846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3312" y="2331720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53312" y="2505456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P1 · D1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0632" y="2331720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70632" y="2505456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P1 · D2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87952" y="2331720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87952" y="2505456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P1 · D3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2331720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05272" y="2505456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P1 · D4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2592" y="2331720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2505456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P1 · D5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008376"/>
            <a:ext cx="557784" cy="603504"/>
          </a:xfrm>
          <a:prstGeom prst="roundRect">
            <a:avLst>
              <a:gd name="adj" fmla="val 12000"/>
            </a:avLst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3136392"/>
            <a:ext cx="4846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P2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53312" y="3008376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53312" y="318211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P2 · D1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70632" y="3008376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70632" y="318211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P2 · D2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87952" y="3008376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87952" y="318211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P2 · D3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05272" y="3008376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05272" y="318211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P2 · D4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22592" y="3008376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3182112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P2 · D5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3685031"/>
            <a:ext cx="557784" cy="603504"/>
          </a:xfrm>
          <a:prstGeom prst="roundRect">
            <a:avLst>
              <a:gd name="adj" fmla="val 12000"/>
            </a:avLst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3813047"/>
            <a:ext cx="4846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53312" y="3685031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53312" y="3858768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P3 · D1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70632" y="3685031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70632" y="3858768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P3 · D2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87952" y="3685031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87952" y="3858768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P3 · D3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05272" y="3685031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05272" y="3858768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P3 · D4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22592" y="3685031"/>
            <a:ext cx="1344168" cy="603504"/>
          </a:xfrm>
          <a:prstGeom prst="roundRect">
            <a:avLst>
              <a:gd name="adj" fmla="val 12000"/>
            </a:avLst>
          </a:prstGeom>
          <a:solidFill>
            <a:srgbClr val="DFEFEB"/>
          </a:solidFill>
          <a:ln w="12700">
            <a:solidFill>
              <a:srgbClr val="CBD9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2592" y="3858768"/>
            <a:ext cx="1344168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P3 · D5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4498848"/>
            <a:ext cx="7671816" cy="566928"/>
          </a:xfrm>
          <a:prstGeom prst="roundRect">
            <a:avLst>
              <a:gd name="adj" fmla="val 12000"/>
            </a:avLst>
          </a:prstGeom>
          <a:solidFill>
            <a:srgbClr val="F3E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4654296"/>
            <a:ext cx="7269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空白/零剂量对照：按项目定义并纳入同一记录表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9952" y="1874519"/>
            <a:ext cx="2816352" cy="3310128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34272" y="214884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69B9B1"/>
                </a:solidFill>
                <a:latin typeface="Microsoft YaHei"/>
              </a:rPr>
              <a:t>实施前锁定</a:t>
            </a:r>
          </a:p>
        </p:txBody>
      </p:sp>
      <p:sp>
        <p:nvSpPr>
          <p:cNvPr id="57" name="Oval 56"/>
          <p:cNvSpPr/>
          <p:nvPr/>
        </p:nvSpPr>
        <p:spPr>
          <a:xfrm>
            <a:off x="9052560" y="2688336"/>
            <a:ext cx="310896" cy="310896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0" y="2688336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2683764"/>
            <a:ext cx="18288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因素水平</a:t>
            </a:r>
          </a:p>
        </p:txBody>
      </p:sp>
      <p:sp>
        <p:nvSpPr>
          <p:cNvPr id="60" name="Oval 59"/>
          <p:cNvSpPr/>
          <p:nvPr/>
        </p:nvSpPr>
        <p:spPr>
          <a:xfrm>
            <a:off x="9052560" y="3218688"/>
            <a:ext cx="310896" cy="310896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3218688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3214116"/>
            <a:ext cx="18288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重复数</a:t>
            </a:r>
          </a:p>
        </p:txBody>
      </p:sp>
      <p:sp>
        <p:nvSpPr>
          <p:cNvPr id="63" name="Oval 62"/>
          <p:cNvSpPr/>
          <p:nvPr/>
        </p:nvSpPr>
        <p:spPr>
          <a:xfrm>
            <a:off x="9052560" y="3749039"/>
            <a:ext cx="310896" cy="310896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052560" y="3749039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1472" y="3744468"/>
            <a:ext cx="18288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随机顺序</a:t>
            </a:r>
          </a:p>
        </p:txBody>
      </p:sp>
      <p:sp>
        <p:nvSpPr>
          <p:cNvPr id="66" name="Oval 65"/>
          <p:cNvSpPr/>
          <p:nvPr/>
        </p:nvSpPr>
        <p:spPr>
          <a:xfrm>
            <a:off x="9052560" y="4279392"/>
            <a:ext cx="310896" cy="310896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0" y="4279392"/>
            <a:ext cx="310896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91472" y="4274820"/>
            <a:ext cx="18288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排除规则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" y="5431536"/>
            <a:ext cx="1078992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AD4D3D"/>
                </a:solidFill>
                <a:latin typeface="Microsoft YaHei"/>
              </a:rPr>
              <a:t>本矩阵是版式示意；条件数与重复数须由真实方案确定。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45616A"/>
                </a:solidFill>
                <a:latin typeface="Microsoft YaHei"/>
              </a:rPr>
              <a:t>结构参考 jar-test 条件比较方法；不含真实剂量或已验证参数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03 · 执行流程与质控留痕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02C36"/>
                </a:solidFill>
                <a:latin typeface="Microsoft YaHei"/>
              </a:rPr>
              <a:t>用同一套记录链，把差异留给实验因素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45616A"/>
                </a:solidFill>
                <a:latin typeface="Microsoft YaHei"/>
              </a:rPr>
              <a:t>04 / 05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737360"/>
            <a:ext cx="502920" cy="502920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728216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取样与编码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130552"/>
            <a:ext cx="4800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记录原水批次、时间、初始浊度与 pH。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0120" y="2249424"/>
            <a:ext cx="0" cy="438912"/>
          </a:xfrm>
          <a:prstGeom prst="line">
            <a:avLst/>
          </a:prstGeom>
          <a:ln w="25400">
            <a:solidFill>
              <a:srgbClr val="CB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232" y="2761488"/>
            <a:ext cx="502920" cy="502920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61488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52344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配液与加药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154680"/>
            <a:ext cx="4800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核对药剂批号、浓度、剂量；逐杯记录。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3273552"/>
            <a:ext cx="0" cy="438912"/>
          </a:xfrm>
          <a:prstGeom prst="line">
            <a:avLst/>
          </a:prstGeom>
          <a:ln w="25400">
            <a:solidFill>
              <a:srgbClr val="CB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3232" y="3785616"/>
            <a:ext cx="502920" cy="502920"/>
          </a:xfrm>
          <a:prstGeom prst="ellipse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6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77647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混合与沉降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178808"/>
            <a:ext cx="4800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按本地程序执行，保持组间条件一致。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" y="4297680"/>
            <a:ext cx="0" cy="438912"/>
          </a:xfrm>
          <a:prstGeom prst="line">
            <a:avLst/>
          </a:prstGeom>
          <a:ln w="25400">
            <a:solidFill>
              <a:srgbClr val="CB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13232" y="4809744"/>
            <a:ext cx="502920" cy="502920"/>
          </a:xfrm>
          <a:prstGeom prst="ellipse">
            <a:avLst/>
          </a:prstGeom>
          <a:solidFill>
            <a:srgbClr val="D3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809744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800600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102C36"/>
                </a:solidFill>
                <a:latin typeface="Microsoft YaHei"/>
              </a:rPr>
              <a:t>取样与读数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202936"/>
            <a:ext cx="4800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固定取样位置与时点，记录浊度、pH及异常。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7688" y="1719072"/>
            <a:ext cx="4828032" cy="4160520"/>
          </a:xfrm>
          <a:prstGeom prst="roundRect">
            <a:avLst>
              <a:gd name="adj" fmla="val 12000"/>
            </a:avLst>
          </a:prstGeom>
          <a:solidFill>
            <a:srgbClr val="EA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loc-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724" y="1847088"/>
            <a:ext cx="3322526" cy="23957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6016" y="4498848"/>
            <a:ext cx="415137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0C7C82"/>
                </a:solidFill>
                <a:latin typeface="Microsoft YaHei"/>
              </a:rPr>
              <a:t>记录异常，而不是事后删点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4956048"/>
            <a:ext cx="402336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102C36"/>
                </a:solidFill>
                <a:latin typeface="Microsoft YaHei"/>
              </a:rPr>
              <a:t>记录絮体、加药与读数异常。
保留原始记录，按预设规则
处理偏差。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45616A"/>
                </a:solidFill>
                <a:latin typeface="Microsoft YaHei"/>
              </a:rPr>
              <a:t>示意流程；混合强度、持续时间、沉降时间等按本地方法确认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0C7C82"/>
                </a:solidFill>
                <a:latin typeface="Microsoft YaHei"/>
              </a:rPr>
              <a:t>04 · 虚构数据呈现样例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1852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3200" b="1">
                <a:solidFill>
                  <a:srgbClr val="102C36"/>
                </a:solidFill>
                <a:latin typeface="Microsoft YaHei"/>
              </a:rPr>
              <a:t>用示意图说明读数与局限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88168" y="6400800"/>
            <a:ext cx="112471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1">
                <a:solidFill>
                  <a:srgbClr val="45616A"/>
                </a:solidFill>
                <a:latin typeface="Microsoft YaHei"/>
              </a:rPr>
              <a:t>05 /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627632"/>
            <a:ext cx="10954512" cy="566928"/>
          </a:xfrm>
          <a:prstGeom prst="roundRect">
            <a:avLst>
              <a:gd name="adj" fmla="val 12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64792"/>
            <a:ext cx="104241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AD4D3D"/>
                </a:solidFill>
                <a:latin typeface="Microsoft YaHei"/>
              </a:rPr>
              <a:t>示意数据（虚构）｜仅用于版式演示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77440"/>
            <a:ext cx="3840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102C36"/>
                </a:solidFill>
                <a:latin typeface="Microsoft YaHei"/>
              </a:rPr>
              <a:t>沉后浊度（NTU）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" y="2788920"/>
            <a:ext cx="6537960" cy="0"/>
          </a:xfrm>
          <a:prstGeom prst="line">
            <a:avLst/>
          </a:prstGeom>
          <a:ln w="12700">
            <a:solidFill>
              <a:srgbClr val="DC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" y="260603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6112" y="3451860"/>
            <a:ext cx="6537960" cy="0"/>
          </a:xfrm>
          <a:prstGeom prst="line">
            <a:avLst/>
          </a:prstGeom>
          <a:ln w="12700">
            <a:solidFill>
              <a:srgbClr val="DC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5760" y="326897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15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" y="4114800"/>
            <a:ext cx="6537960" cy="0"/>
          </a:xfrm>
          <a:prstGeom prst="line">
            <a:avLst/>
          </a:prstGeom>
          <a:ln w="12700">
            <a:solidFill>
              <a:srgbClr val="DC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760" y="393192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" y="4777740"/>
            <a:ext cx="6537960" cy="0"/>
          </a:xfrm>
          <a:prstGeom prst="line">
            <a:avLst/>
          </a:prstGeom>
          <a:ln w="12700">
            <a:solidFill>
              <a:srgbClr val="DC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5760" y="459485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6112" y="5440679"/>
            <a:ext cx="6537960" cy="0"/>
          </a:xfrm>
          <a:prstGeom prst="line">
            <a:avLst/>
          </a:prstGeom>
          <a:ln w="12700">
            <a:solidFill>
              <a:srgbClr val="DCE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5257799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2788920"/>
            <a:ext cx="0" cy="2651759"/>
          </a:xfrm>
          <a:prstGeom prst="line">
            <a:avLst/>
          </a:prstGeom>
          <a:ln w="16510">
            <a:solidFill>
              <a:srgbClr val="456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399032" y="3319271"/>
            <a:ext cx="658368" cy="2121408"/>
          </a:xfrm>
          <a:prstGeom prst="rect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2990087"/>
            <a:ext cx="8046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5504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D1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87752" y="3982211"/>
            <a:ext cx="658368" cy="1458468"/>
          </a:xfrm>
          <a:prstGeom prst="rect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653027"/>
            <a:ext cx="8046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55504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D2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76472" y="4379975"/>
            <a:ext cx="658368" cy="1060704"/>
          </a:xfrm>
          <a:prstGeom prst="rect">
            <a:avLst/>
          </a:prstGeom>
          <a:solidFill>
            <a:srgbClr val="D3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4050791"/>
            <a:ext cx="8046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5504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D3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5192" y="4247388"/>
            <a:ext cx="658368" cy="1193292"/>
          </a:xfrm>
          <a:prstGeom prst="rect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918203"/>
            <a:ext cx="8046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55504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D4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3912" y="3849623"/>
            <a:ext cx="658368" cy="1591055"/>
          </a:xfrm>
          <a:prstGeom prst="rect">
            <a:avLst/>
          </a:prstGeom>
          <a:solidFill>
            <a:srgbClr val="0C7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59" y="3520439"/>
            <a:ext cx="80467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59" y="55504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1">
                <a:solidFill>
                  <a:srgbClr val="102C36"/>
                </a:solidFill>
                <a:latin typeface="Microsoft YaHei"/>
              </a:rPr>
              <a:t>D5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2395728"/>
            <a:ext cx="3703320" cy="3154680"/>
          </a:xfrm>
          <a:prstGeom prst="roundRect">
            <a:avLst>
              <a:gd name="adj" fmla="val 12000"/>
            </a:avLst>
          </a:prstGeom>
          <a:solidFill>
            <a:srgbClr val="0B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2670048"/>
            <a:ext cx="30175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200" b="1">
                <a:solidFill>
                  <a:srgbClr val="69B9B1"/>
                </a:solidFill>
                <a:latin typeface="Microsoft YaHei"/>
              </a:rPr>
              <a:t>读图提醒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3246120"/>
            <a:ext cx="306324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2000" b="1">
                <a:solidFill>
                  <a:srgbClr val="FFFFFF"/>
                </a:solidFill>
                <a:latin typeface="Microsoft YaHei"/>
              </a:rPr>
              <a:t>无重复与误差范围，
也没有原水背景。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65592" y="4069080"/>
            <a:ext cx="3081528" cy="0"/>
          </a:xfrm>
          <a:prstGeom prst="line">
            <a:avLst/>
          </a:prstGeom>
          <a:ln w="12700">
            <a:solidFill>
              <a:srgbClr val="4161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165592" y="4297680"/>
            <a:ext cx="301752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FFFFFF"/>
                </a:solidFill>
                <a:latin typeface="Microsoft YaHei"/>
              </a:rPr>
              <a:t>真实汇报需补齐：
方法、重复数与离散度；
原始记录及偏差说明。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907024"/>
            <a:ext cx="8046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800" b="0">
                <a:solidFill>
                  <a:srgbClr val="45616A"/>
                </a:solidFill>
                <a:latin typeface="Microsoft YaHei"/>
              </a:rPr>
              <a:t>数据文件：data-demo.csv（仅供版式演示）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00800"/>
            <a:ext cx="9738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a:ea="Microsoft YaHei" sz="1600" b="0">
                <a:solidFill>
                  <a:srgbClr val="45616A"/>
                </a:solidFill>
                <a:latin typeface="Microsoft YaHei"/>
              </a:rPr>
              <a:t>数值由样稿作者编造，仅验证图表布局；无实验采集或外部数据库来源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烧杯试验设计草案｜本地展示样稿</dc:title>
  <dc:subject>水处理混凝实验方案示例；不含实测研究结论</dc:subject>
  <dc:creator>本地展示样稿（示例）</dc:creator>
  <cp:keywords>展示样稿; 虚构示意数据; 水处理实验设计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