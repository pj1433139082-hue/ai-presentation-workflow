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开场：讯桥是一个虚构的团队知识检索产品概念。本套展示稿只讨论可以如何设计一类工作流，不声称产品已经实现，也不含真实效果或投资回报数据。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本页的四个问题是为展示稿编写的虚构例句，不是访谈摘录或统计数据。重点是知识检索需要保留来源与上下文，而不是只给出一个孤立答案。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右侧界面完全由PowerPoint原生形状与文字组成，便于编辑；画面内的项目名、日期与引文为虚构示例，不是实际检索结果。演示时可强调每条线索都应回到原始材料核对。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该流程是概念上的设计路径，不代表当前系统已经实现。权限、版本处理与引用可追溯性都是需要在真实试点中专门验证的事项；人仍需根据原文和具体工作判断。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结尾强调这是试点建议而非承诺结果。建议先用一组事先确认有权访问的资料与问题，记录来源命中、引用复核、权限边界和版本差错；在真实评估之前不应对效率提升或投资回报作判断。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70648" y="612648"/>
            <a:ext cx="4069080" cy="4069080"/>
          </a:xfrm>
          <a:prstGeom prst="ellipse">
            <a:avLst/>
          </a:prstGeom>
          <a:noFill/>
          <a:ln w="13970">
            <a:solidFill>
              <a:srgbClr val="173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9560" y="1051560"/>
            <a:ext cx="3200400" cy="3200400"/>
          </a:xfrm>
          <a:prstGeom prst="ellipse">
            <a:avLst/>
          </a:prstGeom>
          <a:noFill/>
          <a:ln w="10160">
            <a:solidFill>
              <a:srgbClr val="1E4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66928"/>
            <a:ext cx="4206240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3D7E8"/>
                </a:solidFill>
                <a:latin typeface="Microsoft YaHei UI"/>
                <a:ea typeface="Microsoft YaHei UI"/>
              </a:rPr>
              <a:t>产品概念展示   / 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98448"/>
            <a:ext cx="5029200" cy="65836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讯桥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5349240" cy="12344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让知识
有迹可循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3529584"/>
            <a:ext cx="603504" cy="50292"/>
          </a:xfrm>
          <a:prstGeom prst="rect">
            <a:avLst/>
          </a:prstGeom>
          <a:solidFill>
            <a:srgbClr val="63D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22191"/>
            <a:ext cx="5349240" cy="7680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D3E3EA"/>
                </a:solidFill>
                <a:latin typeface="Microsoft YaHei UI"/>
                <a:ea typeface="Microsoft YaHei UI"/>
              </a:rPr>
              <a:t>把团队知识，变成可追问的线索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837176"/>
            <a:ext cx="5120640" cy="4937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E6D4"/>
                </a:solidFill>
                <a:latin typeface="Microsoft YaHei UI"/>
                <a:ea typeface="Microsoft YaHei UI"/>
              </a:rPr>
              <a:t>检索概念 · 引用可查 · 人来判断</a:t>
            </a:r>
          </a:p>
        </p:txBody>
      </p:sp>
      <p:pic>
        <p:nvPicPr>
          <p:cNvPr id="10" name="Picture 9" descr="knowledge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914400"/>
            <a:ext cx="4297680" cy="4297680"/>
          </a:xfrm>
          <a:prstGeom prst="rect">
            <a:avLst/>
          </a:prstGeom>
          <a:effectLst/>
        </p:spPr>
      </p:pic>
      <p:cxnSp>
        <p:nvCxnSpPr>
          <p:cNvPr id="11" name="Connector 10"/>
          <p:cNvCxnSpPr/>
          <p:nvPr/>
        </p:nvCxnSpPr>
        <p:spPr>
          <a:xfrm>
            <a:off x="658368" y="6327648"/>
            <a:ext cx="10881360" cy="0"/>
          </a:xfrm>
          <a:prstGeom prst="line">
            <a:avLst/>
          </a:prstGeom>
          <a:ln w="8255">
            <a:solidFill>
              <a:srgbClr val="2942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6419088"/>
            <a:ext cx="1028700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虚构展示方案｜功能、流程与示例均为概念稿，不代表现有产品能力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400800"/>
            <a:ext cx="4114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D7E8"/>
                </a:solidFill>
                <a:latin typeface="Microsoft YaHei UI"/>
                <a:ea typeface="Microsoft YaHei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84048"/>
            <a:ext cx="4389120" cy="25603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01 / THE 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69848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团队难找的，常常不是答案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14984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更难的是找回当时的来源、版本与决策背景。</a:t>
            </a:r>
          </a:p>
        </p:txBody>
      </p:sp>
      <p:sp>
        <p:nvSpPr>
          <p:cNvPr id="5" name="Oval 4"/>
          <p:cNvSpPr/>
          <p:nvPr/>
        </p:nvSpPr>
        <p:spPr>
          <a:xfrm>
            <a:off x="4773168" y="1975104"/>
            <a:ext cx="2395728" cy="2395728"/>
          </a:xfrm>
          <a:prstGeom prst="ellipse">
            <a:avLst/>
          </a:prstGeom>
          <a:solidFill>
            <a:srgbClr val="102432"/>
          </a:solidFill>
          <a:ln w="15240">
            <a:solidFill>
              <a:srgbClr val="2C5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3208" y="2295144"/>
            <a:ext cx="1755648" cy="1755648"/>
          </a:xfrm>
          <a:prstGeom prst="ellipse">
            <a:avLst/>
          </a:prstGeom>
          <a:noFill/>
          <a:ln w="17780">
            <a:solidFill>
              <a:srgbClr val="63D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65776" y="2578608"/>
            <a:ext cx="1810512" cy="5943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FF6F9"/>
                </a:solidFill>
                <a:latin typeface="Microsoft YaHei UI"/>
                <a:ea typeface="Microsoft YaHei UI"/>
              </a:rPr>
              <a:t>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2352" y="3182112"/>
            <a:ext cx="1737360" cy="3291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3D7E8"/>
                </a:solidFill>
                <a:latin typeface="Microsoft YaHei UI"/>
                <a:ea typeface="Microsoft YaHei UI"/>
              </a:rPr>
              <a:t>从哪里来？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52044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「规范现行版是哪份？」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1920240"/>
            <a:ext cx="3401568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「为何调整交付节奏？」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79392"/>
            <a:ext cx="3218688" cy="51206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「客户约束记在哪？」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2834640" cy="8046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3E3EA"/>
                </a:solidFill>
                <a:latin typeface="Microsoft YaHei UI"/>
                <a:ea typeface="Microsoft YaHei UI"/>
              </a:rPr>
              <a:t>资料分散于
多个项目空间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505456"/>
            <a:ext cx="667512" cy="265176"/>
          </a:xfrm>
          <a:prstGeom prst="line">
            <a:avLst/>
          </a:prstGeom>
          <a:ln w="15240">
            <a:solidFill>
              <a:srgbClr val="3D6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2487168"/>
            <a:ext cx="749808" cy="256032"/>
          </a:xfrm>
          <a:prstGeom prst="line">
            <a:avLst/>
          </a:prstGeom>
          <a:ln w="15240">
            <a:solidFill>
              <a:srgbClr val="3D6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60520" y="3886200"/>
            <a:ext cx="822960" cy="521208"/>
          </a:xfrm>
          <a:prstGeom prst="line">
            <a:avLst/>
          </a:prstGeom>
          <a:ln w="15240">
            <a:solidFill>
              <a:srgbClr val="3D6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86016" y="3822191"/>
            <a:ext cx="1243584" cy="512065"/>
          </a:xfrm>
          <a:prstGeom prst="line">
            <a:avLst/>
          </a:prstGeom>
          <a:ln w="15240">
            <a:solidFill>
              <a:srgbClr val="3D6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5285232"/>
            <a:ext cx="9966960" cy="43891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2E6D4"/>
                </a:solidFill>
                <a:latin typeface="Microsoft YaHei UI"/>
                <a:ea typeface="Microsoft YaHei UI"/>
              </a:rPr>
              <a:t>示意情境：找答案之前，先找回“这句话从哪里来”。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327648"/>
            <a:ext cx="10881360" cy="0"/>
          </a:xfrm>
          <a:prstGeom prst="line">
            <a:avLst/>
          </a:prstGeom>
          <a:ln w="8255">
            <a:solidFill>
              <a:srgbClr val="2942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6419088"/>
            <a:ext cx="1028700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问题语句均为虚构情境，不代表用户访谈或产品实测结论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400800"/>
            <a:ext cx="4114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D7E8"/>
                </a:solidFill>
                <a:latin typeface="Microsoft YaHei UI"/>
                <a:ea typeface="Microsoft YaHei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84048"/>
            <a:ext cx="4389120" cy="25603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02 /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69848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从问题走到原文，回答才有落点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14984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把检索结果做成可核对的线索，而不是封闭的结论。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3246120" cy="3383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3D7E8"/>
                </a:solidFill>
                <a:latin typeface="Microsoft YaHei UI"/>
                <a:ea typeface="Microsoft YaHei UI"/>
              </a:rPr>
              <a:t>概念流程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2359152"/>
            <a:ext cx="420624" cy="420624"/>
          </a:xfrm>
          <a:prstGeom prst="ellipse">
            <a:avLst/>
          </a:prstGeom>
          <a:solidFill>
            <a:srgbClr val="123041"/>
          </a:solidFill>
          <a:ln w="11430">
            <a:solidFill>
              <a:srgbClr val="3D8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377440"/>
            <a:ext cx="402336" cy="3291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350008"/>
            <a:ext cx="324612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提出问题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70048"/>
            <a:ext cx="3246120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说清想找的决定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4984" y="2788920"/>
            <a:ext cx="0" cy="310896"/>
          </a:xfrm>
          <a:prstGeom prst="line">
            <a:avLst/>
          </a:prstGeom>
          <a:ln w="11430">
            <a:solidFill>
              <a:srgbClr val="3155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04672" y="3145536"/>
            <a:ext cx="420624" cy="420624"/>
          </a:xfrm>
          <a:prstGeom prst="ellipse">
            <a:avLst/>
          </a:prstGeom>
          <a:solidFill>
            <a:srgbClr val="123041"/>
          </a:solidFill>
          <a:ln w="11430">
            <a:solidFill>
              <a:srgbClr val="3D8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163824"/>
            <a:ext cx="402336" cy="3291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136392"/>
            <a:ext cx="324612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定位资料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456432"/>
            <a:ext cx="3246120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限定项目和资料范围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4984" y="3575304"/>
            <a:ext cx="0" cy="310896"/>
          </a:xfrm>
          <a:prstGeom prst="line">
            <a:avLst/>
          </a:prstGeom>
          <a:ln w="11430">
            <a:solidFill>
              <a:srgbClr val="3155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04672" y="3931920"/>
            <a:ext cx="420624" cy="420624"/>
          </a:xfrm>
          <a:prstGeom prst="ellipse">
            <a:avLst/>
          </a:prstGeom>
          <a:solidFill>
            <a:srgbClr val="123041"/>
          </a:solidFill>
          <a:ln w="11430">
            <a:solidFill>
              <a:srgbClr val="3D8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950207"/>
            <a:ext cx="402336" cy="3291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922776"/>
            <a:ext cx="324612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展示出处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242816"/>
            <a:ext cx="3246120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保留文件、段落与日期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" y="4361688"/>
            <a:ext cx="0" cy="310895"/>
          </a:xfrm>
          <a:prstGeom prst="line">
            <a:avLst/>
          </a:prstGeom>
          <a:ln w="11430">
            <a:solidFill>
              <a:srgbClr val="31556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4672" y="4718304"/>
            <a:ext cx="420624" cy="420624"/>
          </a:xfrm>
          <a:prstGeom prst="ellipse">
            <a:avLst/>
          </a:prstGeom>
          <a:solidFill>
            <a:srgbClr val="123041"/>
          </a:solidFill>
          <a:ln w="11430">
            <a:solidFill>
              <a:srgbClr val="3D8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4736592"/>
            <a:ext cx="402336" cy="3291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709160"/>
            <a:ext cx="324612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回到原文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029200"/>
            <a:ext cx="3246120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由团队成员核对适用性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28032" y="1874519"/>
            <a:ext cx="6547104" cy="3858768"/>
          </a:xfrm>
          <a:prstGeom prst="roundRect">
            <a:avLst/>
          </a:prstGeom>
          <a:solidFill>
            <a:srgbClr val="101C28"/>
          </a:solidFill>
          <a:ln w="12700">
            <a:solidFill>
              <a:srgbClr val="2A4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2084831"/>
            <a:ext cx="2468880" cy="2743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2B4C1"/>
                </a:solidFill>
                <a:latin typeface="Microsoft YaHei UI"/>
                <a:ea typeface="Microsoft YaHei UI"/>
              </a:rPr>
              <a:t>概念界面 / 搜索示意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38928" y="2542032"/>
            <a:ext cx="5897880" cy="640080"/>
          </a:xfrm>
          <a:prstGeom prst="roundRect">
            <a:avLst/>
          </a:prstGeom>
          <a:solidFill>
            <a:srgbClr val="172B3A"/>
          </a:solidFill>
          <a:ln w="12700">
            <a:solidFill>
              <a:srgbClr val="315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3248" y="2679192"/>
            <a:ext cx="521208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FF6F9"/>
                </a:solidFill>
                <a:latin typeface="Microsoft YaHei UI"/>
                <a:ea typeface="Microsoft YaHei UI"/>
              </a:rPr>
              <a:t>我们为什么选这个发布窗口？</a:t>
            </a:r>
          </a:p>
        </p:txBody>
      </p:sp>
      <p:sp>
        <p:nvSpPr>
          <p:cNvPr id="29" name="Oval 28"/>
          <p:cNvSpPr/>
          <p:nvPr/>
        </p:nvSpPr>
        <p:spPr>
          <a:xfrm>
            <a:off x="10369296" y="2660904"/>
            <a:ext cx="365760" cy="365760"/>
          </a:xfrm>
          <a:prstGeom prst="ellipse">
            <a:avLst/>
          </a:prstGeom>
          <a:solidFill>
            <a:srgbClr val="63D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3792" y="3401568"/>
            <a:ext cx="1481328" cy="2743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3D7E8"/>
                </a:solidFill>
                <a:latin typeface="Microsoft YaHei UI"/>
                <a:ea typeface="Microsoft YaHei UI"/>
              </a:rPr>
              <a:t>相关线索 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3785615"/>
            <a:ext cx="5440680" cy="47548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项目复盘 · 决策纪要 · 2025.04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12080" y="4379976"/>
            <a:ext cx="5715000" cy="0"/>
          </a:xfrm>
          <a:prstGeom prst="line">
            <a:avLst/>
          </a:prstGeom>
          <a:ln w="10160">
            <a:solidFill>
              <a:srgbClr val="3450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93792" y="4517136"/>
            <a:ext cx="5349240" cy="5943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3E3EA"/>
                </a:solidFill>
                <a:latin typeface="Microsoft YaHei UI"/>
                <a:ea typeface="Microsoft YaHei UI"/>
              </a:rPr>
              <a:t>“发布日期需避开客户活动；上线窗口由项目负责人复核。”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5230368"/>
            <a:ext cx="2834640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E6D4"/>
                </a:solidFill>
                <a:latin typeface="Microsoft YaHei UI"/>
                <a:ea typeface="Microsoft YaHei UI"/>
              </a:rPr>
              <a:t>查看原文 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5221224"/>
            <a:ext cx="2267712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资料范围：项目空间</a:t>
            </a:r>
          </a:p>
        </p:txBody>
      </p:sp>
      <p:pic>
        <p:nvPicPr>
          <p:cNvPr id="36" name="Picture 35" descr="search-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877824"/>
            <a:ext cx="1325880" cy="1325880"/>
          </a:xfrm>
          <a:prstGeom prst="rect">
            <a:avLst/>
          </a:prstGeom>
          <a:effectLst/>
        </p:spPr>
      </p:pic>
      <p:cxnSp>
        <p:nvCxnSpPr>
          <p:cNvPr id="37" name="Connector 36"/>
          <p:cNvCxnSpPr/>
          <p:nvPr/>
        </p:nvCxnSpPr>
        <p:spPr>
          <a:xfrm>
            <a:off x="658368" y="6327648"/>
            <a:ext cx="10881360" cy="0"/>
          </a:xfrm>
          <a:prstGeom prst="line">
            <a:avLst/>
          </a:prstGeom>
          <a:ln w="8255">
            <a:solidFill>
              <a:srgbClr val="2942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6419088"/>
            <a:ext cx="1028700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概念界面与引用句均为虚构示例，不代表已有系统或能力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82528" y="6400800"/>
            <a:ext cx="4114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D7E8"/>
                </a:solidFill>
                <a:latin typeface="Microsoft YaHei UI"/>
                <a:ea typeface="Microsoft YaHei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84048"/>
            <a:ext cx="4389120" cy="25603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03 / THE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69848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检索给出线索，判断仍由团队完成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14984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一条有用的路径，需要把范围、引用与人工核对连在一起。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70432" y="2907792"/>
            <a:ext cx="9857232" cy="0"/>
          </a:xfrm>
          <a:prstGeom prst="line">
            <a:avLst/>
          </a:prstGeom>
          <a:ln w="25400">
            <a:solidFill>
              <a:srgbClr val="3151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34440" y="2578608"/>
            <a:ext cx="658368" cy="658368"/>
          </a:xfrm>
          <a:prstGeom prst="ellipse">
            <a:avLst/>
          </a:prstGeom>
          <a:solidFill>
            <a:srgbClr val="102432"/>
          </a:solidFill>
          <a:ln w="15240">
            <a:solidFill>
              <a:srgbClr val="3B7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724912"/>
            <a:ext cx="621792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520440"/>
            <a:ext cx="141732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限定范围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014215"/>
            <a:ext cx="1874519" cy="5029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项目 / 时间 / 权限</a:t>
            </a:r>
          </a:p>
        </p:txBody>
      </p:sp>
      <p:sp>
        <p:nvSpPr>
          <p:cNvPr id="10" name="Oval 9"/>
          <p:cNvSpPr/>
          <p:nvPr/>
        </p:nvSpPr>
        <p:spPr>
          <a:xfrm>
            <a:off x="3794760" y="2578608"/>
            <a:ext cx="658368" cy="658368"/>
          </a:xfrm>
          <a:prstGeom prst="ellipse">
            <a:avLst/>
          </a:prstGeom>
          <a:solidFill>
            <a:srgbClr val="102432"/>
          </a:solidFill>
          <a:ln w="15240">
            <a:solidFill>
              <a:srgbClr val="3B7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724912"/>
            <a:ext cx="621792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3520440"/>
            <a:ext cx="141732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匹配片段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4014215"/>
            <a:ext cx="1874519" cy="5029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保留命中上下文</a:t>
            </a:r>
          </a:p>
        </p:txBody>
      </p:sp>
      <p:sp>
        <p:nvSpPr>
          <p:cNvPr id="14" name="Oval 13"/>
          <p:cNvSpPr/>
          <p:nvPr/>
        </p:nvSpPr>
        <p:spPr>
          <a:xfrm>
            <a:off x="6382512" y="2578608"/>
            <a:ext cx="658368" cy="658368"/>
          </a:xfrm>
          <a:prstGeom prst="ellipse">
            <a:avLst/>
          </a:prstGeom>
          <a:solidFill>
            <a:srgbClr val="102432"/>
          </a:solidFill>
          <a:ln w="15240">
            <a:solidFill>
              <a:srgbClr val="3B7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621792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520440"/>
            <a:ext cx="141732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标出来源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4014215"/>
            <a:ext cx="1874519" cy="5029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文件 / 段落 / 日期</a:t>
            </a:r>
          </a:p>
        </p:txBody>
      </p:sp>
      <p:sp>
        <p:nvSpPr>
          <p:cNvPr id="18" name="Oval 17"/>
          <p:cNvSpPr/>
          <p:nvPr/>
        </p:nvSpPr>
        <p:spPr>
          <a:xfrm>
            <a:off x="8979408" y="2578608"/>
            <a:ext cx="658368" cy="658368"/>
          </a:xfrm>
          <a:prstGeom prst="ellipse">
            <a:avLst/>
          </a:prstGeom>
          <a:solidFill>
            <a:srgbClr val="102432"/>
          </a:solidFill>
          <a:ln w="15240">
            <a:solidFill>
              <a:srgbClr val="63D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2724912"/>
            <a:ext cx="621792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520440"/>
            <a:ext cx="141732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人工核对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14215"/>
            <a:ext cx="1874519" cy="5029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回到原文再判断</a:t>
            </a:r>
          </a:p>
        </p:txBody>
      </p:sp>
      <p:sp>
        <p:nvSpPr>
          <p:cNvPr id="22" name="Oval 21"/>
          <p:cNvSpPr/>
          <p:nvPr/>
        </p:nvSpPr>
        <p:spPr>
          <a:xfrm>
            <a:off x="8842248" y="2441448"/>
            <a:ext cx="932688" cy="932688"/>
          </a:xfrm>
          <a:prstGeom prst="ellipse">
            <a:avLst/>
          </a:prstGeom>
          <a:noFill/>
          <a:ln w="10160">
            <a:solidFill>
              <a:srgbClr val="6FE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" y="4992624"/>
            <a:ext cx="64008" cy="694944"/>
          </a:xfrm>
          <a:prstGeom prst="rect">
            <a:avLst/>
          </a:prstGeom>
          <a:solidFill>
            <a:srgbClr val="63D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83480"/>
            <a:ext cx="9966960" cy="4937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3E3EA"/>
                </a:solidFill>
                <a:latin typeface="Microsoft YaHei UI"/>
                <a:ea typeface="Microsoft YaHei UI"/>
              </a:rPr>
              <a:t>上线前需要验证：资料权限是否正确？旧版本是否可辨？引用能否回到原文？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327648"/>
            <a:ext cx="10881360" cy="0"/>
          </a:xfrm>
          <a:prstGeom prst="line">
            <a:avLst/>
          </a:prstGeom>
          <a:ln w="8255">
            <a:solidFill>
              <a:srgbClr val="2942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419088"/>
            <a:ext cx="1028700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流程为产品设计假设，权限与来源能力尚未验证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400800"/>
            <a:ext cx="4114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D7E8"/>
                </a:solidFill>
                <a:latin typeface="Microsoft YaHei UI"/>
                <a:ea typeface="Microsoft YaHei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84048"/>
            <a:ext cx="4389120" cy="25603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04 / THE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069848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FF6F9"/>
                </a:solidFill>
                <a:latin typeface="Microsoft YaHei UI"/>
                <a:ea typeface="Microsoft YaHei UI"/>
              </a:rPr>
              <a:t>先用一小组问题，设计可验证的试点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99032"/>
            <a:ext cx="1014984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先看边界是否清楚，再讨论效率或规模。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4128" y="2953512"/>
            <a:ext cx="7443216" cy="0"/>
          </a:xfrm>
          <a:prstGeom prst="line">
            <a:avLst/>
          </a:prstGeom>
          <a:ln w="21590">
            <a:solidFill>
              <a:srgbClr val="3151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87552" y="2670048"/>
            <a:ext cx="566928" cy="566928"/>
          </a:xfrm>
          <a:prstGeom prst="ellipse">
            <a:avLst/>
          </a:prstGeom>
          <a:solidFill>
            <a:srgbClr val="63D7E8"/>
          </a:solidFill>
          <a:ln w="12700">
            <a:solidFill>
              <a:srgbClr val="63D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98064"/>
            <a:ext cx="621792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018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128016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E6D4"/>
                </a:solidFill>
                <a:latin typeface="Microsoft YaHei UI"/>
                <a:ea typeface="Microsoft YaHei UI"/>
              </a:rPr>
              <a:t>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502152"/>
            <a:ext cx="2231136" cy="35661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一个项目组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995928"/>
            <a:ext cx="2286000" cy="7863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限定资料目录，
确认访问人群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2670048"/>
            <a:ext cx="566928" cy="566928"/>
          </a:xfrm>
          <a:prstGeom prst="ellipse">
            <a:avLst/>
          </a:prstGeom>
          <a:solidFill>
            <a:srgbClr val="143041"/>
          </a:solidFill>
          <a:ln w="12700">
            <a:solidFill>
              <a:srgbClr val="63D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2798064"/>
            <a:ext cx="621792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029968"/>
            <a:ext cx="128016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E6D4"/>
                </a:solidFill>
                <a:latin typeface="Microsoft YaHei UI"/>
                <a:ea typeface="Microsoft YaHei UI"/>
              </a:rPr>
              <a:t>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502152"/>
            <a:ext cx="2231136" cy="35661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一批真实问题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995928"/>
            <a:ext cx="2286000" cy="7863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记录来源命中、
引用复核与误差</a:t>
            </a:r>
          </a:p>
        </p:txBody>
      </p:sp>
      <p:sp>
        <p:nvSpPr>
          <p:cNvPr id="16" name="Oval 15"/>
          <p:cNvSpPr/>
          <p:nvPr/>
        </p:nvSpPr>
        <p:spPr>
          <a:xfrm>
            <a:off x="6199632" y="2670048"/>
            <a:ext cx="566928" cy="566928"/>
          </a:xfrm>
          <a:prstGeom prst="ellipse">
            <a:avLst/>
          </a:prstGeom>
          <a:solidFill>
            <a:srgbClr val="143041"/>
          </a:solidFill>
          <a:ln w="12700">
            <a:solidFill>
              <a:srgbClr val="63D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798064"/>
            <a:ext cx="621792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3D7E8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029968"/>
            <a:ext cx="128016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E6D4"/>
                </a:solidFill>
                <a:latin typeface="Microsoft YaHei UI"/>
                <a:ea typeface="Microsoft YaHei UI"/>
              </a:rPr>
              <a:t>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3502152"/>
            <a:ext cx="2231136" cy="35661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FF6F9"/>
                </a:solidFill>
                <a:latin typeface="Microsoft YaHei UI"/>
                <a:ea typeface="Microsoft YaHei UI"/>
              </a:rPr>
              <a:t>共同决定下一步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3995928"/>
            <a:ext cx="2286000" cy="78638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2B4C1"/>
                </a:solidFill>
                <a:latin typeface="Microsoft YaHei UI"/>
                <a:ea typeface="Microsoft YaHei UI"/>
              </a:rPr>
              <a:t>核对权限与版本，
修正后再决定扩展</a:t>
            </a:r>
          </a:p>
        </p:txBody>
      </p:sp>
      <p:pic>
        <p:nvPicPr>
          <p:cNvPr id="21" name="Picture 20" descr="search-pr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920240"/>
            <a:ext cx="2286000" cy="228600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394192" y="4434840"/>
            <a:ext cx="265176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3D7E8"/>
                </a:solidFill>
                <a:latin typeface="Microsoft YaHei UI"/>
                <a:ea typeface="Microsoft YaHei UI"/>
              </a:rPr>
              <a:t>建议验证项
非效果承诺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85232"/>
            <a:ext cx="10058400" cy="40233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FF6F9"/>
                </a:solidFill>
                <a:latin typeface="Microsoft YaHei UI"/>
                <a:ea typeface="Microsoft YaHei UI"/>
              </a:rPr>
              <a:t>讯桥｜把答案带回证据里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327648"/>
            <a:ext cx="10881360" cy="0"/>
          </a:xfrm>
          <a:prstGeom prst="line">
            <a:avLst/>
          </a:prstGeom>
          <a:ln w="8255">
            <a:solidFill>
              <a:srgbClr val="2942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6419088"/>
            <a:ext cx="1028700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2B4C1"/>
                </a:solidFill>
                <a:latin typeface="Microsoft YaHei UI"/>
                <a:ea typeface="Microsoft YaHei UI"/>
              </a:rPr>
              <a:t>虚构方案｜试点范围、指标与成效均待实际设计和验证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400800"/>
            <a:ext cx="4114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D7E8"/>
                </a:solidFill>
                <a:latin typeface="Microsoft YaHei UI"/>
                <a:ea typeface="Microsoft YaHei U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