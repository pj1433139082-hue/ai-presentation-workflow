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开场说明：这份展示稿讨论的是如何阅读和沟通健康信息，不给出具体疾病的诊断、治疗或用药建议。遇到个人健康决定，应结合自己的情况向合适的医疗专业人员咨询。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引导观众选一条日常看到的健康信息，依次检查内容主张、发布者、依据与更新时间。MedlinePlus的健康信息评估页面也建议关注网站运营方、目的、编辑审核、研究依据、资助、隐私与更新等线索。此处为中文概述，不是逐字翻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本页不把证据简化成固定排名，而是提示观众查看研究如何开展、参与者情况、资料的局限以及结论适用范围。MedlinePlus建议核对健康信息的证据依据和来源，并与医疗人员讨论其是否适合自己的情况。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左侧引文是虚构的夸张标题，用来练习追溯，不是实际健康主张。沿着作者、引用和日期找到原始页面后，应查看证据描述、适用条件与更新时间；无法找到出处时，可把它作为尚未核实的信息。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收束：健康信息素养不是独自判断每条信息，而是知道如何找来源、描述疑问，并与合适的医疗专业人员沟通。不要让通用信息替代针对个人情况的专业建议。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24927" y="502920"/>
            <a:ext cx="4206240" cy="4206240"/>
          </a:xfrm>
          <a:prstGeom prst="ellipse">
            <a:avLst/>
          </a:prstGeom>
          <a:solidFill>
            <a:srgbClr val="E2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1000" y="1005840"/>
            <a:ext cx="3154680" cy="3154680"/>
          </a:xfrm>
          <a:prstGeom prst="ellipse">
            <a:avLst/>
          </a:prstGeom>
          <a:noFill/>
          <a:ln w="11430">
            <a:solidFill>
              <a:srgbClr val="D3D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603504"/>
            <a:ext cx="4663440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77B5B"/>
                </a:solidFill>
                <a:latin typeface="Microsoft YaHei UI"/>
                <a:ea typeface="Microsoft YaHei UI"/>
              </a:rPr>
              <a:t>健康信息素养   / 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481328"/>
            <a:ext cx="5303520" cy="8046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D4E45"/>
                </a:solidFill>
                <a:latin typeface="Noto Serif SC"/>
                <a:ea typeface="Noto Serif SC"/>
              </a:rPr>
              <a:t>认识健康信息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423160"/>
            <a:ext cx="5074920" cy="10241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344640"/>
                </a:solidFill>
                <a:latin typeface="Microsoft YaHei UI"/>
                <a:ea typeface="Microsoft YaHei UI"/>
              </a:rPr>
              <a:t>先看证据，再问来源，
也别忘了沟通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" y="3794760"/>
            <a:ext cx="658368" cy="54864"/>
          </a:xfrm>
          <a:prstGeom prst="rect">
            <a:avLst/>
          </a:prstGeom>
          <a:solidFill>
            <a:srgbClr val="C77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160520"/>
            <a:ext cx="5120640" cy="73152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E7D73"/>
                </a:solidFill>
                <a:latin typeface="Microsoft YaHei UI"/>
                <a:ea typeface="Microsoft YaHei UI"/>
              </a:rPr>
              <a:t>练习判断信息，不追求一眼定真伪。</a:t>
            </a:r>
          </a:p>
        </p:txBody>
      </p:sp>
      <p:pic>
        <p:nvPicPr>
          <p:cNvPr id="9" name="Picture 8" descr="source-p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804672"/>
            <a:ext cx="4251960" cy="4251960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685800" y="6318504"/>
            <a:ext cx="10817352" cy="0"/>
          </a:xfrm>
          <a:prstGeom prst="line">
            <a:avLst/>
          </a:prstGeom>
          <a:ln w="9525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6400800"/>
            <a:ext cx="1005840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E7D73"/>
                </a:solidFill>
                <a:latin typeface="Microsoft YaHei UI"/>
                <a:ea typeface="Microsoft YaHei UI"/>
              </a:rPr>
              <a:t>健康信息素养科普｜帮助理解与沟通，不提供诊断或治疗建议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00800"/>
            <a:ext cx="438912" cy="3017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7B5B"/>
                </a:solidFill>
                <a:latin typeface="Microsoft YaHei UI"/>
                <a:ea typeface="Microsoft YaHei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5303520" cy="26517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7B5B"/>
                </a:solidFill>
                <a:latin typeface="Microsoft YaHei UI"/>
                <a:ea typeface="Microsoft YaHei UI"/>
              </a:rPr>
              <a:t>01 / FIRST 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0664"/>
            <a:ext cx="1078992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D4E45"/>
                </a:solidFill>
                <a:latin typeface="Noto Serif SC"/>
                <a:ea typeface="Noto Serif SC"/>
              </a:rPr>
              <a:t>先把一条信息拆成四个问题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1399032"/>
            <a:ext cx="10241280" cy="41148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看到醒目的结论时，先慢下来检查它的来处。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39112"/>
            <a:ext cx="2057400" cy="47548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4E45"/>
                </a:solidFill>
                <a:latin typeface="Microsoft YaHei UI"/>
                <a:ea typeface="Microsoft YaHei UI"/>
              </a:rPr>
              <a:t>先问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33472"/>
            <a:ext cx="2148840" cy="150876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C77B5B"/>
                </a:solidFill>
                <a:latin typeface="Noto Serif SC"/>
                <a:ea typeface="Noto Serif SC"/>
              </a:rPr>
              <a:t>四个
小问题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1938528"/>
            <a:ext cx="0" cy="3657600"/>
          </a:xfrm>
          <a:prstGeom prst="line">
            <a:avLst/>
          </a:prstGeom>
          <a:ln w="12700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19856" y="1975104"/>
            <a:ext cx="566928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7B5B"/>
                </a:solidFill>
                <a:latin typeface="Microsoft YaHei UI"/>
                <a:ea typeface="Microsoft YaHei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9663" y="1929384"/>
            <a:ext cx="2331720" cy="43891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说的是什么？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938528"/>
            <a:ext cx="4251960" cy="5303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把标题还原成可核对的具体主张。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01568" y="2642616"/>
            <a:ext cx="7754112" cy="0"/>
          </a:xfrm>
          <a:prstGeom prst="line">
            <a:avLst/>
          </a:prstGeom>
          <a:ln w="8255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19856" y="2889504"/>
            <a:ext cx="566928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7B5B"/>
                </a:solidFill>
                <a:latin typeface="Microsoft YaHei UI"/>
                <a:ea typeface="Microsoft YaHei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9663" y="2843784"/>
            <a:ext cx="2331720" cy="43891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谁在发布？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852928"/>
            <a:ext cx="4251960" cy="5303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查运营、目的、审核与资助。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01568" y="3557016"/>
            <a:ext cx="7754112" cy="0"/>
          </a:xfrm>
          <a:prstGeom prst="line">
            <a:avLst/>
          </a:prstGeom>
          <a:ln w="8255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19856" y="3803904"/>
            <a:ext cx="566928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7B5B"/>
                </a:solidFill>
                <a:latin typeface="Microsoft YaHei UI"/>
                <a:ea typeface="Microsoft YaHei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3758184"/>
            <a:ext cx="2331720" cy="43891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依据在哪里？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767328"/>
            <a:ext cx="4251960" cy="5303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能否找到研究、原始资料或明确出处？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01568" y="4471416"/>
            <a:ext cx="7754112" cy="0"/>
          </a:xfrm>
          <a:prstGeom prst="line">
            <a:avLst/>
          </a:prstGeom>
          <a:ln w="8255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19856" y="4718304"/>
            <a:ext cx="566928" cy="31089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7B5B"/>
                </a:solidFill>
                <a:latin typeface="Microsoft YaHei UI"/>
                <a:ea typeface="Microsoft YaHei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3" y="4672584"/>
            <a:ext cx="2331720" cy="43891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何时更新？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681728"/>
            <a:ext cx="4251960" cy="5303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发布日期、更新时间与适用对象是什么？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318504"/>
            <a:ext cx="10817352" cy="0"/>
          </a:xfrm>
          <a:prstGeom prst="line">
            <a:avLst/>
          </a:prstGeom>
          <a:ln w="9525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400800"/>
            <a:ext cx="1005840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E7D73"/>
                </a:solidFill>
                <a:latin typeface="Microsoft YaHei UI"/>
                <a:ea typeface="Microsoft YaHei UI"/>
              </a:rPr>
              <a:t>参考：MedlinePlus（美国国家医学图书馆），Evaluating Health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438912" cy="3017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7B5B"/>
                </a:solidFill>
                <a:latin typeface="Microsoft YaHei UI"/>
                <a:ea typeface="Microsoft YaHei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5303520" cy="26517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7B5B"/>
                </a:solidFill>
                <a:latin typeface="Microsoft YaHei UI"/>
                <a:ea typeface="Microsoft YaHei UI"/>
              </a:rPr>
              <a:t>02 / EVIDENCE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0664"/>
            <a:ext cx="1078992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D4E45"/>
                </a:solidFill>
                <a:latin typeface="Noto Serif SC"/>
                <a:ea typeface="Noto Serif SC"/>
              </a:rPr>
              <a:t>证据能支持什么，也要看它的边界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1399032"/>
            <a:ext cx="10241280" cy="41148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一项结论是否适用，取决于材料、对象与具体情境。</a:t>
            </a:r>
          </a:p>
        </p:txBody>
      </p:sp>
      <p:sp>
        <p:nvSpPr>
          <p:cNvPr id="5" name="Oval 4"/>
          <p:cNvSpPr/>
          <p:nvPr/>
        </p:nvSpPr>
        <p:spPr>
          <a:xfrm>
            <a:off x="4709160" y="2148840"/>
            <a:ext cx="2578608" cy="2578608"/>
          </a:xfrm>
          <a:prstGeom prst="ellipse">
            <a:avLst/>
          </a:prstGeom>
          <a:solidFill>
            <a:srgbClr val="E2E9DC"/>
          </a:solidFill>
          <a:ln w="15240">
            <a:solidFill>
              <a:srgbClr val="B6C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57216" y="2596896"/>
            <a:ext cx="1682496" cy="1682496"/>
          </a:xfrm>
          <a:prstGeom prst="ellipse">
            <a:avLst/>
          </a:prstGeom>
          <a:solidFill>
            <a:srgbClr val="2D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76088" y="2926080"/>
            <a:ext cx="1444752" cy="45720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DF8"/>
                </a:solidFill>
                <a:latin typeface="Microsoft YaHei UI"/>
                <a:ea typeface="Microsoft YaHei UI"/>
              </a:rPr>
              <a:t>结论
边界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86200" y="2578608"/>
            <a:ext cx="1033272" cy="347472"/>
          </a:xfrm>
          <a:prstGeom prst="line">
            <a:avLst/>
          </a:prstGeom>
          <a:ln w="12700">
            <a:solidFill>
              <a:srgbClr val="839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114032" y="2395728"/>
            <a:ext cx="1115568" cy="374904"/>
          </a:xfrm>
          <a:prstGeom prst="line">
            <a:avLst/>
          </a:prstGeom>
          <a:ln w="12700">
            <a:solidFill>
              <a:srgbClr val="839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840480" y="4041648"/>
            <a:ext cx="1069848" cy="365760"/>
          </a:xfrm>
          <a:prstGeom prst="line">
            <a:avLst/>
          </a:prstGeom>
          <a:ln w="12700">
            <a:solidFill>
              <a:srgbClr val="839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04888" y="4041648"/>
            <a:ext cx="1124712" cy="438912"/>
          </a:xfrm>
          <a:prstGeom prst="line">
            <a:avLst/>
          </a:prstGeom>
          <a:ln w="12700">
            <a:solidFill>
              <a:srgbClr val="839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2057400"/>
            <a:ext cx="301752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研究怎么做？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578608"/>
            <a:ext cx="2926080" cy="5760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方法与证据来源，
是否说得清楚？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93392"/>
            <a:ext cx="288036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参与者是谁？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523744"/>
            <a:ext cx="274320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对象与条件，
和所讨论的问题吻合吗？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261104"/>
            <a:ext cx="292608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有哪些局限？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782312"/>
            <a:ext cx="288036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单个结果不能自动
代表所有情境。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315968"/>
            <a:ext cx="292608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是否适合个人？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837176"/>
            <a:ext cx="288036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通用信息不等于
个人建议。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5166360"/>
            <a:ext cx="493776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77B5B"/>
                </a:solidFill>
                <a:latin typeface="Microsoft YaHei UI"/>
                <a:ea typeface="Microsoft YaHei UI"/>
              </a:rPr>
              <a:t>结论的适用范围，需要回到原资料确认。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6318504"/>
            <a:ext cx="10817352" cy="0"/>
          </a:xfrm>
          <a:prstGeom prst="line">
            <a:avLst/>
          </a:prstGeom>
          <a:ln w="9525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6400800"/>
            <a:ext cx="1005840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E7D73"/>
                </a:solidFill>
                <a:latin typeface="Microsoft YaHei UI"/>
                <a:ea typeface="Microsoft YaHei UI"/>
              </a:rPr>
              <a:t>参考：MedlinePlus，Evaluating Health Information；内容为信息素养概述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0800"/>
            <a:ext cx="438912" cy="3017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7B5B"/>
                </a:solidFill>
                <a:latin typeface="Microsoft YaHei UI"/>
                <a:ea typeface="Microsoft YaHei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5303520" cy="26517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7B5B"/>
                </a:solidFill>
                <a:latin typeface="Microsoft YaHei UI"/>
                <a:ea typeface="Microsoft YaHei UI"/>
              </a:rPr>
              <a:t>03 / TRACE THE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0664"/>
            <a:ext cx="1078992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D4E45"/>
                </a:solidFill>
                <a:latin typeface="Noto Serif SC"/>
                <a:ea typeface="Noto Serif SC"/>
              </a:rPr>
              <a:t>别只看转述：顺着引用找到原文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1399032"/>
            <a:ext cx="10241280" cy="41148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从一句结论往回走，核对是谁说的、依据是什么、何时更新。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2148840"/>
            <a:ext cx="2286000" cy="2487168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9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404872"/>
            <a:ext cx="1783080" cy="29260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77B5B"/>
                </a:solidFill>
                <a:latin typeface="Microsoft YaHei UI"/>
                <a:ea typeface="Microsoft YaHei UI"/>
              </a:rPr>
              <a:t>你看到的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07792"/>
            <a:ext cx="1847088" cy="10241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4E45"/>
                </a:solidFill>
                <a:latin typeface="Noto Serif SC"/>
                <a:ea typeface="Noto Serif SC"/>
              </a:rPr>
              <a:t>“研究证实，
人人都应该……”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206240"/>
            <a:ext cx="1883664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E7D73"/>
                </a:solidFill>
                <a:latin typeface="Microsoft YaHei UI"/>
                <a:ea typeface="Microsoft YaHei UI"/>
              </a:rPr>
              <a:t>标题 / 摘要 / 转述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3401568"/>
            <a:ext cx="5440680" cy="0"/>
          </a:xfrm>
          <a:prstGeom prst="line">
            <a:avLst/>
          </a:prstGeom>
          <a:ln w="22860">
            <a:solidFill>
              <a:srgbClr val="839E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822191" y="3182112"/>
            <a:ext cx="438912" cy="438912"/>
          </a:xfrm>
          <a:prstGeom prst="ellipse">
            <a:avLst/>
          </a:prstGeom>
          <a:solidFill>
            <a:srgbClr val="F6F3EC"/>
          </a:solidFill>
          <a:ln w="15240">
            <a:solidFill>
              <a:srgbClr val="C77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3767328"/>
            <a:ext cx="841248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4E45"/>
                </a:solidFill>
                <a:latin typeface="Microsoft YaHei UI"/>
                <a:ea typeface="Microsoft YaHei UI"/>
              </a:rPr>
              <a:t>作者</a:t>
            </a:r>
          </a:p>
        </p:txBody>
      </p:sp>
      <p:sp>
        <p:nvSpPr>
          <p:cNvPr id="12" name="Oval 11"/>
          <p:cNvSpPr/>
          <p:nvPr/>
        </p:nvSpPr>
        <p:spPr>
          <a:xfrm>
            <a:off x="5285232" y="3182112"/>
            <a:ext cx="438912" cy="438912"/>
          </a:xfrm>
          <a:prstGeom prst="ellipse">
            <a:avLst/>
          </a:prstGeom>
          <a:solidFill>
            <a:srgbClr val="F6F3EC"/>
          </a:solidFill>
          <a:ln w="15240">
            <a:solidFill>
              <a:srgbClr val="C77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3767328"/>
            <a:ext cx="841248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4E45"/>
                </a:solidFill>
                <a:latin typeface="Microsoft YaHei UI"/>
                <a:ea typeface="Microsoft YaHei UI"/>
              </a:rPr>
              <a:t>引用</a:t>
            </a:r>
          </a:p>
        </p:txBody>
      </p:sp>
      <p:sp>
        <p:nvSpPr>
          <p:cNvPr id="14" name="Oval 13"/>
          <p:cNvSpPr/>
          <p:nvPr/>
        </p:nvSpPr>
        <p:spPr>
          <a:xfrm>
            <a:off x="6748272" y="3182112"/>
            <a:ext cx="438912" cy="438912"/>
          </a:xfrm>
          <a:prstGeom prst="ellipse">
            <a:avLst/>
          </a:prstGeom>
          <a:solidFill>
            <a:srgbClr val="F6F3EC"/>
          </a:solidFill>
          <a:ln w="15240">
            <a:solidFill>
              <a:srgbClr val="C77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767328"/>
            <a:ext cx="841248" cy="32004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4E45"/>
                </a:solidFill>
                <a:latin typeface="Microsoft YaHei UI"/>
                <a:ea typeface="Microsoft YaHei UI"/>
              </a:rPr>
              <a:t>日期</a:t>
            </a:r>
          </a:p>
        </p:txBody>
      </p:sp>
      <p:sp>
        <p:nvSpPr>
          <p:cNvPr id="16" name="Oval 15"/>
          <p:cNvSpPr/>
          <p:nvPr/>
        </p:nvSpPr>
        <p:spPr>
          <a:xfrm>
            <a:off x="8458200" y="3127248"/>
            <a:ext cx="566928" cy="566928"/>
          </a:xfrm>
          <a:prstGeom prst="ellipse">
            <a:avLst/>
          </a:prstGeom>
          <a:solidFill>
            <a:srgbClr val="2D4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423160"/>
            <a:ext cx="2286000" cy="36576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回到原始发布页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127248"/>
            <a:ext cx="2011680" cy="82296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找依据
看限制与更新时间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138928"/>
            <a:ext cx="10241280" cy="512064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44640"/>
                </a:solidFill>
                <a:latin typeface="Microsoft YaHei UI"/>
                <a:ea typeface="Microsoft YaHei UI"/>
              </a:rPr>
              <a:t>如果找不到原文、作者或研究背景，先保留疑问，再继续核对。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318504"/>
            <a:ext cx="10817352" cy="0"/>
          </a:xfrm>
          <a:prstGeom prst="line">
            <a:avLst/>
          </a:prstGeom>
          <a:ln w="9525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6400800"/>
            <a:ext cx="1005840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E7D73"/>
                </a:solidFill>
                <a:latin typeface="Microsoft YaHei UI"/>
                <a:ea typeface="Microsoft YaHei UI"/>
              </a:rPr>
              <a:t>参考：MedlinePlus（NLM），Evaluating Health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0800"/>
            <a:ext cx="438912" cy="3017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7B5B"/>
                </a:solidFill>
                <a:latin typeface="Microsoft YaHei UI"/>
                <a:ea typeface="Microsoft YaHei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84048"/>
            <a:ext cx="5303520" cy="265176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77B5B"/>
                </a:solidFill>
                <a:latin typeface="Microsoft YaHei UI"/>
                <a:ea typeface="Microsoft YaHei UI"/>
              </a:rPr>
              <a:t>04 / TALK IT 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0664"/>
            <a:ext cx="10789920" cy="56692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D4E45"/>
                </a:solidFill>
                <a:latin typeface="Noto Serif SC"/>
                <a:ea typeface="Noto Serif SC"/>
              </a:rPr>
              <a:t>把疑问带进一次好沟通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1399032"/>
            <a:ext cx="10241280" cy="41148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带着来源、原文和自己的问题，与合适的专业人员讨论。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512064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77B5B"/>
                </a:solidFill>
                <a:latin typeface="Microsoft YaHei UI"/>
                <a:ea typeface="Microsoft YaHei UI"/>
              </a:rPr>
              <a:t>可以这样开口</a:t>
            </a:r>
          </a:p>
        </p:txBody>
      </p:sp>
      <p:sp>
        <p:nvSpPr>
          <p:cNvPr id="6" name="Oval 5"/>
          <p:cNvSpPr/>
          <p:nvPr/>
        </p:nvSpPr>
        <p:spPr>
          <a:xfrm>
            <a:off x="850392" y="2468880"/>
            <a:ext cx="310896" cy="310896"/>
          </a:xfrm>
          <a:prstGeom prst="ellipse">
            <a:avLst/>
          </a:prstGeom>
          <a:solidFill>
            <a:srgbClr val="C77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2395728"/>
            <a:ext cx="2331720" cy="39319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我看到……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04872"/>
            <a:ext cx="342900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把具体信息或出处带来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788920"/>
            <a:ext cx="0" cy="320040"/>
          </a:xfrm>
          <a:prstGeom prst="line">
            <a:avLst/>
          </a:prstGeom>
          <a:ln w="11430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50392" y="3227832"/>
            <a:ext cx="310896" cy="310896"/>
          </a:xfrm>
          <a:prstGeom prst="ellipse">
            <a:avLst/>
          </a:prstGeom>
          <a:solidFill>
            <a:srgbClr val="E2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154680"/>
            <a:ext cx="2331720" cy="39319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它依据什么？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63824"/>
            <a:ext cx="342900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一起确认原始材料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5840" y="3547872"/>
            <a:ext cx="0" cy="320040"/>
          </a:xfrm>
          <a:prstGeom prst="line">
            <a:avLst/>
          </a:prstGeom>
          <a:ln w="11430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50392" y="3986784"/>
            <a:ext cx="310896" cy="310896"/>
          </a:xfrm>
          <a:prstGeom prst="ellipse">
            <a:avLst/>
          </a:prstGeom>
          <a:solidFill>
            <a:srgbClr val="E2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3913632"/>
            <a:ext cx="2331720" cy="39319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还有哪些未知？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922776"/>
            <a:ext cx="342900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说清楚自己仍不确定的地方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" y="4306824"/>
            <a:ext cx="0" cy="320040"/>
          </a:xfrm>
          <a:prstGeom prst="line">
            <a:avLst/>
          </a:prstGeom>
          <a:ln w="11430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0392" y="4745736"/>
            <a:ext cx="310896" cy="310896"/>
          </a:xfrm>
          <a:prstGeom prst="ellipse">
            <a:avLst/>
          </a:prstGeom>
          <a:solidFill>
            <a:srgbClr val="E2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4672583"/>
            <a:ext cx="2331720" cy="39319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D4E45"/>
                </a:solidFill>
                <a:latin typeface="Microsoft YaHei UI"/>
                <a:ea typeface="Microsoft YaHei UI"/>
              </a:rPr>
              <a:t>这和我有关吗？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681727"/>
            <a:ext cx="3429000" cy="384048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E7D73"/>
                </a:solidFill>
                <a:latin typeface="Microsoft YaHei UI"/>
                <a:ea typeface="Microsoft YaHei UI"/>
              </a:rPr>
              <a:t>讨论是否适合个人情境</a:t>
            </a:r>
          </a:p>
        </p:txBody>
      </p:sp>
      <p:sp>
        <p:nvSpPr>
          <p:cNvPr id="21" name="Oval 20"/>
          <p:cNvSpPr/>
          <p:nvPr/>
        </p:nvSpPr>
        <p:spPr>
          <a:xfrm>
            <a:off x="7589520" y="1920240"/>
            <a:ext cx="3218688" cy="3218688"/>
          </a:xfrm>
          <a:prstGeom prst="ellipse">
            <a:avLst/>
          </a:prstGeom>
          <a:solidFill>
            <a:srgbClr val="E2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istening-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029968"/>
            <a:ext cx="3017520" cy="301752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868680" y="5596128"/>
            <a:ext cx="10332720" cy="365760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D4E45"/>
                </a:solidFill>
                <a:latin typeface="Microsoft YaHei UI"/>
                <a:ea typeface="Microsoft YaHei UI"/>
              </a:rPr>
              <a:t>重要的个人健康决定，请结合具体情况向医疗专业人员咨询。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318504"/>
            <a:ext cx="10817352" cy="0"/>
          </a:xfrm>
          <a:prstGeom prst="line">
            <a:avLst/>
          </a:prstGeom>
          <a:ln w="9525">
            <a:solidFill>
              <a:srgbClr val="D5D8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2" y="6400800"/>
            <a:ext cx="10058400" cy="34747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E7D73"/>
                </a:solidFill>
                <a:latin typeface="Microsoft YaHei UI"/>
                <a:ea typeface="Microsoft YaHei UI"/>
              </a:rPr>
              <a:t>科普用途｜不替代诊断、治疗或个体化医疗建议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0800"/>
            <a:ext cx="438912" cy="301752"/>
          </a:xfrm>
          <a:prstGeom prst="rect">
            <a:avLst/>
          </a:prstGeom>
          <a:noFill/>
          <a:effectLst/>
        </p:spPr>
        <p:txBody>
          <a:bodyPr wrap="square" lIns="13716" rIns="13716" tIns="9144" bIns="9144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77B5B"/>
                </a:solidFill>
                <a:latin typeface="Microsoft YaHei UI"/>
                <a:ea typeface="Microsoft YaHei U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