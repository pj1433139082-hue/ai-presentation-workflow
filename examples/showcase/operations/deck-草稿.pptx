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本地展示草稿；示例工厂 A、Q3 示例周期及所有经营数据均为虚构，不对应任何真实公司或财务披露。工厂为图像生成的透明 PNG 插图。委托式子智能体制作并由主智能体统筹验收，不代表完整 human G1–G5 生产链认证或人类批准记录。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全部数值为编造的样例经营数据，见 data-demo.csv。计算：产量达成率=12400/13000=95.4%；产量差距=(12400-13000)/13000≈-4.6%；准时交付率差距=94%-96%=-2个百分点；一次合格率差距=96.8%-97.5%=-0.7个百分点；非计划停机率差距=3.2%-2.5%=+0.7个百分点；单位能耗相对计划增幅=(8.1-7.8)/7.8≈+3.8%。这些数值仅用于排版演示，不代表真实财务或运营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42% / 35% / 23% 为作者编造的样例比例，恰好合计100%，只用于展示可编辑条形图。它们不来自真实工厂、工单或设备数据，也不证明换型、故障、物料是实际根因。检查项是供复盘会议讨论的示例；实际归因必须回到定义清晰、可追溯的停机记录，并允许撤销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/60/90天结构是本地样稿提出的规划模板。没有真实项目授权、责任人、预算或目标；不构成已批准经营计划。任何试点需明确基线、对照/比较口径、观察窗口、质量与安全约束；只有数据可复算、效果可重复且未出现不可接受副作用后，才由实际管理者决策是否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本页为虚构经营复盘的闭环模板，列出会议可以要求的证据与决策项。并非实际公司已召开会议、分派责任或批准试点。商业真实信息来源：无；本展示所有数值均为编造示意。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57784"/>
            <a:ext cx="5943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365C70"/>
                </a:solidFill>
                <a:latin typeface="Microsoft YaHei"/>
              </a:rPr>
              <a:t>制造运营 / 季度复盘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88720"/>
            <a:ext cx="5669280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800" b="1">
                <a:solidFill>
                  <a:srgbClr val="182F3B"/>
                </a:solidFill>
                <a:latin typeface="Microsoft YaHei"/>
              </a:rPr>
              <a:t>把运营差距
拆成可验证的动作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971800"/>
            <a:ext cx="53949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0">
                <a:solidFill>
                  <a:srgbClr val="50636D"/>
                </a:solidFill>
                <a:latin typeface="Microsoft YaHei"/>
              </a:rPr>
              <a:t>示例工厂 A · Q3 示例周期
数据、原因与动作均为虚构样例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4279392"/>
            <a:ext cx="4251960" cy="658368"/>
          </a:xfrm>
          <a:prstGeom prst="roundRect">
            <a:avLst>
              <a:gd name="adj" fmla="val 10000"/>
            </a:avLst>
          </a:prstGeom>
          <a:solidFill>
            <a:srgbClr val="14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443984"/>
            <a:ext cx="3886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本地展示草稿 · 非真实财报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230368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复盘顺序：核口径 → 看差距 → 验改善</a:t>
            </a:r>
          </a:p>
        </p:txBody>
      </p:sp>
      <p:pic>
        <p:nvPicPr>
          <p:cNvPr id="9" name="Picture 8" descr="factory-h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09700"/>
            <a:ext cx="5577840" cy="3718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50636D"/>
                </a:solidFill>
                <a:latin typeface="Microsoft YaHe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365C70"/>
                </a:solidFill>
                <a:latin typeface="Microsoft YaHei"/>
              </a:rPr>
              <a:t>01 · 经营概览 / 虚构示例数据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200" b="1">
                <a:solidFill>
                  <a:srgbClr val="182F3B"/>
                </a:solidFill>
                <a:latin typeface="Microsoft YaHei"/>
              </a:rPr>
              <a:t>五项指标先给出同一张“计划—实际”底表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0040"/>
            <a:ext cx="1993392" cy="393192"/>
          </a:xfrm>
          <a:prstGeom prst="roundRect">
            <a:avLst>
              <a:gd name="adj" fmla="val 10000"/>
            </a:avLst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0928" y="356616"/>
            <a:ext cx="186537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示例数据 · 虚构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50636D"/>
                </a:solidFill>
                <a:latin typeface="Microsoft YaHei"/>
              </a:rPr>
              <a:t>02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10954512" cy="530352"/>
          </a:xfrm>
          <a:prstGeom prst="roundRect">
            <a:avLst>
              <a:gd name="adj" fmla="val 10000"/>
            </a:avLst>
          </a:prstGeom>
          <a:solidFill>
            <a:srgbClr val="14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46504"/>
            <a:ext cx="1037844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FFFFFF"/>
                </a:solidFill>
                <a:latin typeface="Microsoft YaHei"/>
              </a:rPr>
              <a:t>示意周期计划量 13,000 件｜实际量 12,400 件｜计划达成率 95.4%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404872"/>
            <a:ext cx="34747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404872"/>
            <a:ext cx="109728" cy="1554480"/>
          </a:xfrm>
          <a:prstGeom prst="rect">
            <a:avLst/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5603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50636D"/>
                </a:solidFill>
                <a:latin typeface="Microsoft YaHei"/>
              </a:rPr>
              <a:t>准时交付率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80360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700" b="1">
                <a:solidFill>
                  <a:srgbClr val="182F3B"/>
                </a:solidFill>
                <a:latin typeface="Microsoft YaHei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355848"/>
            <a:ext cx="3017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365C70"/>
                </a:solidFill>
                <a:latin typeface="Microsoft YaHei"/>
              </a:rPr>
              <a:t>计划 96%
差距 −2 个百分点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404872"/>
            <a:ext cx="34747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2404872"/>
            <a:ext cx="109728" cy="1554480"/>
          </a:xfrm>
          <a:prstGeom prst="rect">
            <a:avLst/>
          </a:prstGeom>
          <a:solidFill>
            <a:srgbClr val="36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5603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50636D"/>
                </a:solidFill>
                <a:latin typeface="Microsoft YaHei"/>
              </a:rPr>
              <a:t>一次合格率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880360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700" b="1">
                <a:solidFill>
                  <a:srgbClr val="182F3B"/>
                </a:solidFill>
                <a:latin typeface="Microsoft YaHei"/>
              </a:rPr>
              <a:t>96.8%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355848"/>
            <a:ext cx="3017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365C70"/>
                </a:solidFill>
                <a:latin typeface="Microsoft YaHei"/>
              </a:rPr>
              <a:t>计划 97.5%
差距 −0.7 个百分点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404872"/>
            <a:ext cx="34747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2404872"/>
            <a:ext cx="109728" cy="1554480"/>
          </a:xfrm>
          <a:prstGeom prst="rect">
            <a:avLst/>
          </a:prstGeom>
          <a:solidFill>
            <a:srgbClr val="B84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5603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50636D"/>
                </a:solidFill>
                <a:latin typeface="Microsoft YaHei"/>
              </a:rPr>
              <a:t>非计划停机率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880360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700" b="1">
                <a:solidFill>
                  <a:srgbClr val="182F3B"/>
                </a:solidFill>
                <a:latin typeface="Microsoft YaHei"/>
              </a:rPr>
              <a:t>3.2%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355848"/>
            <a:ext cx="3017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365C70"/>
                </a:solidFill>
                <a:latin typeface="Microsoft YaHei"/>
              </a:rPr>
              <a:t>计划 2.5%
差距 +0.7 个百分点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87168" y="4087368"/>
            <a:ext cx="34747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87168" y="4087368"/>
            <a:ext cx="109728" cy="1554480"/>
          </a:xfrm>
          <a:prstGeom prst="rect">
            <a:avLst/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5768" y="4242816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50636D"/>
                </a:solidFill>
                <a:latin typeface="Microsoft YaHei"/>
              </a:rPr>
              <a:t>单位能耗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562856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700" b="1">
                <a:solidFill>
                  <a:srgbClr val="182F3B"/>
                </a:solidFill>
                <a:latin typeface="Microsoft YaHei"/>
              </a:rPr>
              <a:t>8.1 kWh/件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5038344"/>
            <a:ext cx="3017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365C70"/>
                </a:solidFill>
                <a:latin typeface="Microsoft YaHei"/>
              </a:rPr>
              <a:t>计划 7.8
+3.8%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87368"/>
            <a:ext cx="34747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87368"/>
            <a:ext cx="109728" cy="1554480"/>
          </a:xfrm>
          <a:prstGeom prst="rect">
            <a:avLst/>
          </a:prstGeom>
          <a:solidFill>
            <a:srgbClr val="36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242816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50636D"/>
                </a:solidFill>
                <a:latin typeface="Microsoft YaHei"/>
              </a:rPr>
              <a:t>产量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562856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700" b="1">
                <a:solidFill>
                  <a:srgbClr val="182F3B"/>
                </a:solidFill>
                <a:latin typeface="Microsoft YaHei"/>
              </a:rPr>
              <a:t>12,400 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038344"/>
            <a:ext cx="3017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365C70"/>
                </a:solidFill>
                <a:latin typeface="Microsoft YaHei"/>
              </a:rPr>
              <a:t>计划 13,000
−4.6%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879592"/>
            <a:ext cx="10607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指标口径、分母与采集系统均为演示占位；先与真实台账对齐再复盘。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00800"/>
            <a:ext cx="9738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50636D"/>
                </a:solidFill>
                <a:latin typeface="Microsoft YaHei"/>
              </a:rPr>
              <a:t>示例工厂 A｜虚构经营数据，不是真实经营记录或财务披露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365C70"/>
                </a:solidFill>
                <a:latin typeface="Microsoft YaHei"/>
              </a:rPr>
              <a:t>02 · 偏差拆解 / 虚构样例归因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200" b="1">
                <a:solidFill>
                  <a:srgbClr val="182F3B"/>
                </a:solidFill>
                <a:latin typeface="Microsoft YaHei"/>
              </a:rPr>
              <a:t>把“损失构成”标成待核查假设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0040"/>
            <a:ext cx="1993392" cy="393192"/>
          </a:xfrm>
          <a:prstGeom prst="roundRect">
            <a:avLst>
              <a:gd name="adj" fmla="val 10000"/>
            </a:avLst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0928" y="356616"/>
            <a:ext cx="186537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示例数据 · 虚构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50636D"/>
                </a:solidFill>
                <a:latin typeface="Microsoft YaHei"/>
              </a:rPr>
              <a:t>03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45920"/>
            <a:ext cx="10954512" cy="603504"/>
          </a:xfrm>
          <a:prstGeom prst="roundRect">
            <a:avLst>
              <a:gd name="adj" fmla="val 10000"/>
            </a:avLst>
          </a:prstGeom>
          <a:solidFill>
            <a:srgbClr val="F8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01368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B84935"/>
                </a:solidFill>
                <a:latin typeface="Microsoft YaHei"/>
              </a:rPr>
              <a:t>下图是虚构的排查优先级假设，不是经验证的根因或真实损失数据。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4937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假设性损失占比（虚构）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404104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50636D"/>
                </a:solidFill>
                <a:latin typeface="Microsoft YaHei"/>
              </a:rPr>
              <a:t>条长按 0–50% 统一比例；数字为虚构占比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44952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换型等待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3063240"/>
            <a:ext cx="4187952" cy="338328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3063240"/>
            <a:ext cx="3517879" cy="338328"/>
          </a:xfrm>
          <a:prstGeom prst="rect">
            <a:avLst/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026664"/>
            <a:ext cx="76809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79476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设备故障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3813048"/>
            <a:ext cx="4187952" cy="338328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3813048"/>
            <a:ext cx="2931566" cy="338328"/>
          </a:xfrm>
          <a:prstGeom prst="rect">
            <a:avLst/>
          </a:prstGeom>
          <a:solidFill>
            <a:srgbClr val="36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776472"/>
            <a:ext cx="76809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544568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物料供应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4562855"/>
            <a:ext cx="4187952" cy="338328"/>
          </a:xfrm>
          <a:prstGeom prst="rect">
            <a:avLst/>
          </a:prstGeom>
          <a:solidFill>
            <a:srgbClr val="DC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40" y="4562855"/>
            <a:ext cx="1926457" cy="338328"/>
          </a:xfrm>
          <a:prstGeom prst="rect">
            <a:avLst/>
          </a:prstGeom>
          <a:solidFill>
            <a:srgbClr val="7B8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526280"/>
            <a:ext cx="76809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23%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560320"/>
            <a:ext cx="3611880" cy="2926080"/>
          </a:xfrm>
          <a:prstGeom prst="roundRect">
            <a:avLst>
              <a:gd name="adj" fmla="val 10000"/>
            </a:avLst>
          </a:prstGeom>
          <a:solidFill>
            <a:srgbClr val="14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2816352"/>
            <a:ext cx="292608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F28B2D"/>
                </a:solidFill>
                <a:latin typeface="Microsoft YaHei"/>
              </a:rPr>
              <a:t>先验证三件事</a:t>
            </a:r>
          </a:p>
        </p:txBody>
      </p:sp>
      <p:sp>
        <p:nvSpPr>
          <p:cNvPr id="25" name="Oval 24"/>
          <p:cNvSpPr/>
          <p:nvPr/>
        </p:nvSpPr>
        <p:spPr>
          <a:xfrm>
            <a:off x="8266175" y="3429000"/>
            <a:ext cx="347472" cy="347472"/>
          </a:xfrm>
          <a:prstGeom prst="ellipse">
            <a:avLst/>
          </a:prstGeom>
          <a:solidFill>
            <a:srgbClr val="36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3429000"/>
            <a:ext cx="3474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3419856"/>
            <a:ext cx="2514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统一停机与换型定义</a:t>
            </a:r>
          </a:p>
        </p:txBody>
      </p:sp>
      <p:sp>
        <p:nvSpPr>
          <p:cNvPr id="28" name="Oval 27"/>
          <p:cNvSpPr/>
          <p:nvPr/>
        </p:nvSpPr>
        <p:spPr>
          <a:xfrm>
            <a:off x="8266175" y="4023360"/>
            <a:ext cx="347472" cy="347472"/>
          </a:xfrm>
          <a:prstGeom prst="ellipse">
            <a:avLst/>
          </a:prstGeom>
          <a:solidFill>
            <a:srgbClr val="36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4023360"/>
            <a:ext cx="3474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8" y="4014216"/>
            <a:ext cx="2514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核对时间戳与工单</a:t>
            </a:r>
          </a:p>
        </p:txBody>
      </p:sp>
      <p:sp>
        <p:nvSpPr>
          <p:cNvPr id="31" name="Oval 30"/>
          <p:cNvSpPr/>
          <p:nvPr/>
        </p:nvSpPr>
        <p:spPr>
          <a:xfrm>
            <a:off x="8266175" y="4617720"/>
            <a:ext cx="347472" cy="347472"/>
          </a:xfrm>
          <a:prstGeom prst="ellipse">
            <a:avLst/>
          </a:prstGeom>
          <a:solidFill>
            <a:srgbClr val="36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5" y="4617720"/>
            <a:ext cx="3474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4608576"/>
            <a:ext cx="2514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核对排产、维修与缺料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669280"/>
            <a:ext cx="106070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若数据不能复现，撤销假设，不将占比写成结论。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00800"/>
            <a:ext cx="9738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50636D"/>
                </a:solidFill>
                <a:latin typeface="Microsoft YaHei"/>
              </a:rPr>
              <a:t>示例工厂 A｜虚构经营数据，不是真实经营记录或财务披露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365C70"/>
                </a:solidFill>
                <a:latin typeface="Microsoft YaHei"/>
              </a:rPr>
              <a:t>03 · 行动设计 / 待决策草案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200" b="1">
                <a:solidFill>
                  <a:srgbClr val="182F3B"/>
                </a:solidFill>
                <a:latin typeface="Microsoft YaHei"/>
              </a:rPr>
              <a:t>按 30 / 60 / 90 天设验证门，不先许诺收益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0040"/>
            <a:ext cx="1993392" cy="393192"/>
          </a:xfrm>
          <a:prstGeom prst="roundRect">
            <a:avLst>
              <a:gd name="adj" fmla="val 10000"/>
            </a:avLst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0928" y="356616"/>
            <a:ext cx="186537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示例数据 · 虚构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50636D"/>
                </a:solidFill>
                <a:latin typeface="Microsoft YaHei"/>
              </a:rPr>
              <a:t>04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90068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0">
                <a:solidFill>
                  <a:srgbClr val="50636D"/>
                </a:solidFill>
                <a:latin typeface="Microsoft YaHei"/>
              </a:rPr>
              <a:t>以下是可讨论的推进节奏；不是已批准计划、既定责任或效果承诺。</a:t>
            </a:r>
          </a:p>
        </p:txBody>
      </p:sp>
      <p:pic>
        <p:nvPicPr>
          <p:cNvPr id="8" name="Picture 7" descr="pump-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1517904"/>
            <a:ext cx="987552" cy="6583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" y="2286000"/>
            <a:ext cx="3474720" cy="2889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86000"/>
            <a:ext cx="3474720" cy="146304"/>
          </a:xfrm>
          <a:prstGeom prst="rect">
            <a:avLst/>
          </a:prstGeom>
          <a:solidFill>
            <a:srgbClr val="365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587752"/>
            <a:ext cx="29443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365C70"/>
                </a:solidFill>
                <a:latin typeface="Microsoft YaHei"/>
              </a:rPr>
              <a:t>0–30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54096"/>
            <a:ext cx="29443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400" b="1">
                <a:solidFill>
                  <a:srgbClr val="182F3B"/>
                </a:solidFill>
                <a:latin typeface="Microsoft YaHei"/>
              </a:rPr>
              <a:t>校准数据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657600"/>
            <a:ext cx="2962656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50636D"/>
                </a:solidFill>
                <a:latin typeface="Microsoft YaHei"/>
              </a:rPr>
              <a:t>对齐停机、交付与能耗口径；抽样核对班次台账。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0392" y="4517136"/>
            <a:ext cx="2990088" cy="0"/>
          </a:xfrm>
          <a:prstGeom prst="line">
            <a:avLst/>
          </a:prstGeom>
          <a:ln w="15240">
            <a:solidFill>
              <a:srgbClr val="C8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" y="4690872"/>
            <a:ext cx="29443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82F3B"/>
                </a:solidFill>
                <a:latin typeface="Microsoft YaHei"/>
              </a:rPr>
              <a:t>通过门：口径可复算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286000"/>
            <a:ext cx="3474720" cy="2889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2544" y="2286000"/>
            <a:ext cx="3474720" cy="146304"/>
          </a:xfrm>
          <a:prstGeom prst="rect">
            <a:avLst/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2587752"/>
            <a:ext cx="29443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F28B2D"/>
                </a:solidFill>
                <a:latin typeface="Microsoft YaHei"/>
              </a:rPr>
              <a:t>31–60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054096"/>
            <a:ext cx="29443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400" b="1">
                <a:solidFill>
                  <a:srgbClr val="182F3B"/>
                </a:solidFill>
                <a:latin typeface="Microsoft YaHei"/>
              </a:rPr>
              <a:t>小范围试点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3657600"/>
            <a:ext cx="2962656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50636D"/>
                </a:solidFill>
                <a:latin typeface="Microsoft YaHei"/>
              </a:rPr>
              <a:t>选一条线测试换型记录与点检闭环；保留对照周。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81144" y="4517136"/>
            <a:ext cx="2990087" cy="0"/>
          </a:xfrm>
          <a:prstGeom prst="line">
            <a:avLst/>
          </a:prstGeom>
          <a:ln w="15240">
            <a:solidFill>
              <a:srgbClr val="C8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81144" y="4690872"/>
            <a:ext cx="29443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82F3B"/>
                </a:solidFill>
                <a:latin typeface="Microsoft YaHei"/>
              </a:rPr>
              <a:t>通过门：数据可追溯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2286000"/>
            <a:ext cx="3474720" cy="2889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2286000"/>
            <a:ext cx="3474720" cy="146304"/>
          </a:xfrm>
          <a:prstGeom prst="rect">
            <a:avLst/>
          </a:prstGeom>
          <a:solidFill>
            <a:srgbClr val="3F7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2587752"/>
            <a:ext cx="29443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3F7868"/>
                </a:solidFill>
                <a:latin typeface="Microsoft YaHei"/>
              </a:rPr>
              <a:t>61–90 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3054096"/>
            <a:ext cx="294436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400" b="1">
                <a:solidFill>
                  <a:srgbClr val="182F3B"/>
                </a:solidFill>
                <a:latin typeface="Microsoft YaHei"/>
              </a:rPr>
              <a:t>复核再决定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3657600"/>
            <a:ext cx="2962656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50636D"/>
                </a:solidFill>
                <a:latin typeface="Microsoft YaHei"/>
              </a:rPr>
              <a:t>比较试点前后波动；检查副作用和样本覆盖。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11896" y="4517136"/>
            <a:ext cx="2990088" cy="0"/>
          </a:xfrm>
          <a:prstGeom prst="line">
            <a:avLst/>
          </a:prstGeom>
          <a:ln w="15240">
            <a:solidFill>
              <a:srgbClr val="C8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11896" y="4690872"/>
            <a:ext cx="29443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82F3B"/>
                </a:solidFill>
                <a:latin typeface="Microsoft YaHei"/>
              </a:rPr>
              <a:t>通过门：复核后再扩围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486400"/>
            <a:ext cx="10954512" cy="557784"/>
          </a:xfrm>
          <a:prstGeom prst="roundRect">
            <a:avLst>
              <a:gd name="adj" fmla="val 10000"/>
            </a:avLst>
          </a:prstGeom>
          <a:solidFill>
            <a:srgbClr val="14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586984"/>
            <a:ext cx="10378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FFFFFF"/>
                </a:solidFill>
                <a:latin typeface="Microsoft YaHei"/>
              </a:rPr>
              <a:t>管理约束：数据可追溯、结果可复核后，再讨论扩大范围。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00800"/>
            <a:ext cx="9738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50636D"/>
                </a:solidFill>
                <a:latin typeface="Microsoft YaHei"/>
              </a:rPr>
              <a:t>示例工厂 A｜虚构经营数据，不是真实经营记录或财务披露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365C70"/>
                </a:solidFill>
                <a:latin typeface="Microsoft YaHei"/>
              </a:rPr>
              <a:t>04 · 复盘闭环 / 决策清单模板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200" b="1">
                <a:solidFill>
                  <a:srgbClr val="182F3B"/>
                </a:solidFill>
                <a:latin typeface="Microsoft YaHei"/>
              </a:rPr>
              <a:t>下次复盘先问：数据能否支持这项决定？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0040"/>
            <a:ext cx="1993392" cy="393192"/>
          </a:xfrm>
          <a:prstGeom prst="roundRect">
            <a:avLst>
              <a:gd name="adj" fmla="val 10000"/>
            </a:avLst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0928" y="356616"/>
            <a:ext cx="186537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示例数据 · 虚构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50636D"/>
                </a:solidFill>
                <a:latin typeface="Microsoft YaHei"/>
              </a:rPr>
              <a:t>05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82496"/>
            <a:ext cx="6437376" cy="4334256"/>
          </a:xfrm>
          <a:prstGeom prst="roundRect">
            <a:avLst>
              <a:gd name="adj" fmla="val 10000"/>
            </a:avLst>
          </a:prstGeom>
          <a:solidFill>
            <a:srgbClr val="14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56692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400" b="1">
                <a:solidFill>
                  <a:srgbClr val="FFFFFF"/>
                </a:solidFill>
                <a:latin typeface="Microsoft YaHei"/>
              </a:rPr>
              <a:t>建议会议带走三项证据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15768"/>
            <a:ext cx="438912" cy="438912"/>
          </a:xfrm>
          <a:prstGeom prst="ellipse">
            <a:avLst/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15768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697480"/>
            <a:ext cx="21488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FFFFFF"/>
                </a:solidFill>
                <a:latin typeface="Microsoft YaHei"/>
              </a:rPr>
              <a:t>指标口径表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97480"/>
            <a:ext cx="285292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D7E1E4"/>
                </a:solidFill>
                <a:latin typeface="Microsoft YaHei"/>
              </a:rPr>
              <a:t>目标、分母、时间窗、数据责任系统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688" y="3337560"/>
            <a:ext cx="5779008" cy="0"/>
          </a:xfrm>
          <a:prstGeom prst="line">
            <a:avLst/>
          </a:prstGeom>
          <a:ln w="12700">
            <a:solidFill>
              <a:srgbClr val="39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32688" y="3648456"/>
            <a:ext cx="438912" cy="438912"/>
          </a:xfrm>
          <a:prstGeom prst="ellipse">
            <a:avLst/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648456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630168"/>
            <a:ext cx="21488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FFFFFF"/>
                </a:solidFill>
                <a:latin typeface="Microsoft YaHei"/>
              </a:rPr>
              <a:t>异常记录样本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630168"/>
            <a:ext cx="285292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D7E1E4"/>
                </a:solidFill>
                <a:latin typeface="Microsoft YaHei"/>
              </a:rPr>
              <a:t>工单 / 班次时间戳可追溯到原始记录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4270248"/>
            <a:ext cx="5779008" cy="0"/>
          </a:xfrm>
          <a:prstGeom prst="line">
            <a:avLst/>
          </a:prstGeom>
          <a:ln w="12700">
            <a:solidFill>
              <a:srgbClr val="39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32688" y="4581144"/>
            <a:ext cx="438912" cy="438912"/>
          </a:xfrm>
          <a:prstGeom prst="ellipse">
            <a:avLst/>
          </a:prstGeom>
          <a:solidFill>
            <a:srgbClr val="F2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581144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562856"/>
            <a:ext cx="21488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FFFFFF"/>
                </a:solidFill>
                <a:latin typeface="Microsoft YaHei"/>
              </a:rPr>
              <a:t>试点复核页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562856"/>
            <a:ext cx="285292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D7E1E4"/>
                </a:solidFill>
                <a:latin typeface="Microsoft YaHei"/>
              </a:rPr>
              <a:t>比较条件、样本覆盖、质量与安全护栏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856231"/>
            <a:ext cx="3566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365C70"/>
                </a:solidFill>
                <a:latin typeface="Microsoft YaHei"/>
              </a:rPr>
              <a:t>讨论后决策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1" y="2496312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2724912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182F3B"/>
                </a:solidFill>
                <a:latin typeface="Microsoft YaHei"/>
              </a:rPr>
              <a:t>选一个试点范围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379476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D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27264" y="4023360"/>
            <a:ext cx="34290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82F3B"/>
                </a:solidFill>
                <a:latin typeface="Microsoft YaHei"/>
              </a:rPr>
              <a:t>确认指标口径与责任人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5257800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B84935"/>
                </a:solidFill>
                <a:latin typeface="Microsoft YaHei"/>
              </a:rPr>
              <a:t>未核验前：保持“待验证”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00800"/>
            <a:ext cx="9738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50636D"/>
                </a:solidFill>
                <a:latin typeface="Microsoft YaHei"/>
              </a:rPr>
              <a:t>示例工厂 A｜虚构经营数据，不是真实经营记录或财务披露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制造业季度运营复盘｜本地展示草稿</dc:title>
  <dc:subject>虚构制造企业运营数据；用于展示汇报结构，不是真实财报</dc:subject>
  <dc:creator>本地展示样稿（示例）</dc:creator>
  <cp:keywords>展示样稿; 虚构经营数据; 制造业运营复盘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