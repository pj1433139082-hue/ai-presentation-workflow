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本提案以虚构品牌“山间茶事”和虚构 SKU“雾岭春芽”为讨论载体。封面中的茶枝与山雾是一张单独放置的透明 PNG 插画；插画内部不作为可逐叶编辑的矢量对象。后续页面提出的是设计假设，不代表真实品牌、产地或销售情况。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把设计讨论拆成三种使用时刻：轻装携带、午后自饮、登门分享。它们是为了组织包装与触点内容而设定的假设，并非调研结论。真实项目应补充目标人群访谈、场景观察和产品信息，再决定是否保留这三类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 PowerPoint 原生矩形、椭圆和梯形构成三种包装轮廓，因此这些外框和标签文字可以在 PowerPoint 中分别移动与改写。虚构 SKU 名称仅用于展示版式；净含量、材质、茶类、来源以及任何产品承诺都没有在此页设定，真实项目需先确认事实和合规文案。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按从左到右的顺序，页面展示三种提案触点：用于说明产品的详情页、帮助理解风味的线下试饮台，以及便于分享的赠礼卡。手机和卡片内部的线条、标题与插图占位均为可编辑的 PowerPoint 对象。此示例没有真实二维码、店铺、购买入口或活动，不应被理解为已投放的品牌活动。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建议动作放在确认顺序上，而不是承诺销量或投放时间。首先核对商品事实和合规文案，再用实物样确认包装结构，最后根据真实渠道设计试用观察。右侧四项是启动打样前的讨论清单，成本、周期、供应商和评估办法需要由真实委托方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713232"/>
            <a:ext cx="82296" cy="365760"/>
          </a:xfrm>
          <a:prstGeom prst="rect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704088"/>
            <a:ext cx="393192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消费品牌提案 · 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5120640" cy="93268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03E34"/>
                </a:solidFill>
                <a:latin typeface="Microsoft YaHei"/>
              </a:rPr>
              <a:t>山间茶事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78608"/>
            <a:ext cx="5074920" cy="6400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B85D40"/>
                </a:solidFill>
                <a:latin typeface="Microsoft YaHei"/>
              </a:rPr>
              <a:t>把山场装进一盒茶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447288"/>
            <a:ext cx="4709160" cy="9601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5362E"/>
                </a:solidFill>
                <a:latin typeface="Microsoft YaHei"/>
              </a:rPr>
              <a:t>从新品包装到日常触点，探索一种轻装、好分享的茶礼表达。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4818888"/>
            <a:ext cx="4352544" cy="0"/>
          </a:xfrm>
          <a:prstGeom prst="line">
            <a:avLst/>
          </a:prstGeom>
          <a:ln w="1270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" y="4956048"/>
            <a:ext cx="484632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概念 SKU：雾岭春芽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21808"/>
            <a:ext cx="484632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提案示例 / 尚未上市</a:t>
            </a:r>
          </a:p>
        </p:txBody>
      </p:sp>
      <p:sp>
        <p:nvSpPr>
          <p:cNvPr id="11" name="Oval 10"/>
          <p:cNvSpPr/>
          <p:nvPr/>
        </p:nvSpPr>
        <p:spPr>
          <a:xfrm>
            <a:off x="6565392" y="1143000"/>
            <a:ext cx="4407408" cy="4407408"/>
          </a:xfrm>
          <a:prstGeom prst="ellipse">
            <a:avLst/>
          </a:prstGeom>
          <a:solidFill>
            <a:srgbClr val="EFE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a-bra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204" y="1609344"/>
            <a:ext cx="5184648" cy="3456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61504" y="5276088"/>
            <a:ext cx="306324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15547"/>
                </a:solidFill>
                <a:latin typeface="Microsoft YaHei"/>
              </a:rPr>
              <a:t>单幅茶枝与山雾插画组件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6327648"/>
            <a:ext cx="10671048" cy="0"/>
          </a:xfrm>
          <a:prstGeom prst="line">
            <a:avLst/>
          </a:prstGeom>
          <a:ln w="1016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6382512"/>
            <a:ext cx="9948672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5E53"/>
                </a:solidFill>
                <a:latin typeface="Microsoft YaHei"/>
              </a:rPr>
              <a:t>虚构品牌示例｜方案演示，不对应真实产品、销量或供应链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502920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01 / 使用情境 · 设计假设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30936"/>
            <a:ext cx="1083564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362E"/>
                </a:solidFill>
                <a:latin typeface="Microsoft YaHei"/>
              </a:rPr>
              <a:t>让一盒茶适配三种日常时刻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70432" y="1828800"/>
            <a:ext cx="0" cy="3310128"/>
          </a:xfrm>
          <a:prstGeom prst="line">
            <a:avLst/>
          </a:prstGeom>
          <a:ln w="2540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04672" y="1965960"/>
            <a:ext cx="749808" cy="749808"/>
          </a:xfrm>
          <a:prstGeom prst="ellipse">
            <a:avLst/>
          </a:prstGeom>
          <a:solidFill>
            <a:srgbClr val="31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13232" cy="74980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1874519"/>
            <a:ext cx="2542032" cy="8595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5362E"/>
                </a:solidFill>
                <a:latin typeface="Microsoft YaHei"/>
              </a:rPr>
              <a:t>轻装出门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2039112"/>
            <a:ext cx="0" cy="548640"/>
          </a:xfrm>
          <a:prstGeom prst="line">
            <a:avLst/>
          </a:prstGeom>
          <a:ln w="25400">
            <a:solidFill>
              <a:srgbClr val="E8C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00016" y="1947672"/>
            <a:ext cx="5989320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5E53"/>
                </a:solidFill>
                <a:latin typeface="Microsoft YaHei"/>
              </a:rPr>
              <a:t>小份、好携带，让取用动作简单。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172968"/>
            <a:ext cx="749808" cy="749808"/>
          </a:xfrm>
          <a:prstGeom prst="ellipse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713232" cy="74980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" y="3081528"/>
            <a:ext cx="2542032" cy="8595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5362E"/>
                </a:solidFill>
                <a:latin typeface="Microsoft YaHei"/>
              </a:rPr>
              <a:t>午后独处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89120" y="3246120"/>
            <a:ext cx="0" cy="548640"/>
          </a:xfrm>
          <a:prstGeom prst="line">
            <a:avLst/>
          </a:prstGeom>
          <a:ln w="25400">
            <a:solidFill>
              <a:srgbClr val="E8C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00016" y="3154680"/>
            <a:ext cx="5989320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5E53"/>
                </a:solidFill>
                <a:latin typeface="Microsoft YaHei"/>
              </a:rPr>
              <a:t>冲泡信息直观，给阅读留出呼吸感。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4379976"/>
            <a:ext cx="749808" cy="749808"/>
          </a:xfrm>
          <a:prstGeom prst="ellipse">
            <a:avLst/>
          </a:prstGeom>
          <a:solidFill>
            <a:srgbClr val="20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79976"/>
            <a:ext cx="713232" cy="74980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3664" y="4288536"/>
            <a:ext cx="2542032" cy="85953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5362E"/>
                </a:solidFill>
                <a:latin typeface="Microsoft YaHei"/>
              </a:rPr>
              <a:t>顺手赠礼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4453128"/>
            <a:ext cx="0" cy="548640"/>
          </a:xfrm>
          <a:prstGeom prst="line">
            <a:avLst/>
          </a:prstGeom>
          <a:ln w="25400">
            <a:solidFill>
              <a:srgbClr val="E8C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00016" y="4361688"/>
            <a:ext cx="5989320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5E53"/>
                </a:solidFill>
                <a:latin typeface="Microsoft YaHei"/>
              </a:rPr>
              <a:t>开盒有记忆点，祝福卡与外盒一起设计。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5468112"/>
            <a:ext cx="10588752" cy="566928"/>
          </a:xfrm>
          <a:prstGeom prst="rect">
            <a:avLst/>
          </a:prstGeom>
          <a:solidFill>
            <a:srgbClr val="EFE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541264"/>
            <a:ext cx="10204704" cy="4114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E34"/>
                </a:solidFill>
                <a:latin typeface="Microsoft YaHei"/>
              </a:rPr>
              <a:t>这三种时刻是提案假设，需通过真实访谈与试用调整。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6327648"/>
            <a:ext cx="10671048" cy="0"/>
          </a:xfrm>
          <a:prstGeom prst="line">
            <a:avLst/>
          </a:prstGeom>
          <a:ln w="1016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6382512"/>
            <a:ext cx="9948672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5E53"/>
                </a:solidFill>
                <a:latin typeface="Microsoft YaHei"/>
              </a:rPr>
              <a:t>虚构品牌示例｜方案演示，不对应真实产品、销量或供应链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502920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02 / 包装系统 · 结构概念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30936"/>
            <a:ext cx="1083564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362E"/>
                </a:solidFill>
                <a:latin typeface="Microsoft YaHei"/>
              </a:rPr>
              <a:t>一盒茶，拆成三种拿取尺度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280160"/>
            <a:ext cx="10332720" cy="4114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5E53"/>
                </a:solidFill>
                <a:latin typeface="Microsoft YaHei"/>
              </a:rPr>
              <a:t>以“礼赠 / 自用 / 初尝”组织盒型角色，具体规格和材质待确认。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078992" y="2240280"/>
            <a:ext cx="1874519" cy="384048"/>
          </a:xfrm>
          <a:prstGeom prst="parallelogram">
            <a:avLst/>
          </a:prstGeom>
          <a:solidFill>
            <a:srgbClr val="C7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2587752"/>
            <a:ext cx="1874519" cy="2331720"/>
          </a:xfrm>
          <a:prstGeom prst="rect">
            <a:avLst/>
          </a:prstGeom>
          <a:solidFill>
            <a:srgbClr val="E9DCC6"/>
          </a:solidFill>
          <a:ln w="1524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53512" y="2660904"/>
            <a:ext cx="365760" cy="2258568"/>
          </a:xfrm>
          <a:prstGeom prst="rect">
            <a:avLst/>
          </a:prstGeom>
          <a:solidFill>
            <a:srgbClr val="D6C3A4"/>
          </a:solidFill>
          <a:ln w="1270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" y="3108960"/>
            <a:ext cx="1874519" cy="475488"/>
          </a:xfrm>
          <a:prstGeom prst="rect">
            <a:avLst/>
          </a:prstGeom>
          <a:solidFill>
            <a:srgbClr val="31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72968"/>
            <a:ext cx="1755648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DF8"/>
                </a:solidFill>
                <a:latin typeface="Microsoft YaHei"/>
              </a:rPr>
              <a:t>雾岭春芽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3886200"/>
            <a:ext cx="1316736" cy="0"/>
          </a:xfrm>
          <a:prstGeom prst="line">
            <a:avLst/>
          </a:prstGeom>
          <a:ln w="17780">
            <a:solidFill>
              <a:srgbClr val="B85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07008" y="4059936"/>
            <a:ext cx="1609344" cy="438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15547"/>
                </a:solidFill>
                <a:latin typeface="Microsoft YaHei"/>
              </a:rPr>
              <a:t>山形纹样位置</a:t>
            </a:r>
          </a:p>
        </p:txBody>
      </p:sp>
      <p:sp>
        <p:nvSpPr>
          <p:cNvPr id="13" name="Oval 12"/>
          <p:cNvSpPr/>
          <p:nvPr/>
        </p:nvSpPr>
        <p:spPr>
          <a:xfrm>
            <a:off x="4782312" y="2468880"/>
            <a:ext cx="1865376" cy="384048"/>
          </a:xfrm>
          <a:prstGeom prst="ellipse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82312" y="2660904"/>
            <a:ext cx="1865376" cy="2212848"/>
          </a:xfrm>
          <a:prstGeom prst="rect">
            <a:avLst/>
          </a:prstGeom>
          <a:solidFill>
            <a:srgbClr val="D7DED0"/>
          </a:solidFill>
          <a:ln w="1524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82312" y="4681728"/>
            <a:ext cx="1865376" cy="384048"/>
          </a:xfrm>
          <a:prstGeom prst="ellipse">
            <a:avLst/>
          </a:prstGeom>
          <a:solidFill>
            <a:srgbClr val="C6D0BE"/>
          </a:solidFill>
          <a:ln w="1270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56048" y="3264408"/>
            <a:ext cx="1517904" cy="877824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3364992"/>
            <a:ext cx="1408176" cy="32918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3E34"/>
                </a:solidFill>
                <a:latin typeface="Microsoft YaHei"/>
              </a:rPr>
              <a:t>雾岭春芽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703320"/>
            <a:ext cx="1335024" cy="2743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净含量待填</a:t>
            </a:r>
          </a:p>
        </p:txBody>
      </p:sp>
      <p:sp>
        <p:nvSpPr>
          <p:cNvPr id="19" name="Trapezoid 18"/>
          <p:cNvSpPr/>
          <p:nvPr/>
        </p:nvSpPr>
        <p:spPr>
          <a:xfrm>
            <a:off x="8549640" y="2697480"/>
            <a:ext cx="1938528" cy="2304288"/>
          </a:xfrm>
          <a:prstGeom prst="trapezoid">
            <a:avLst/>
          </a:prstGeom>
          <a:solidFill>
            <a:srgbClr val="E8C9B1"/>
          </a:solidFill>
          <a:ln w="15240">
            <a:solidFill>
              <a:srgbClr val="B85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2578608"/>
            <a:ext cx="1664208" cy="237744"/>
          </a:xfrm>
          <a:prstGeom prst="rect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814816" y="3429000"/>
            <a:ext cx="1380744" cy="0"/>
          </a:xfrm>
          <a:prstGeom prst="line">
            <a:avLst/>
          </a:prstGeom>
          <a:ln w="15240">
            <a:solidFill>
              <a:srgbClr val="315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69096" y="3657600"/>
            <a:ext cx="1499616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3E34"/>
                </a:solidFill>
                <a:latin typeface="Microsoft YaHei"/>
              </a:rPr>
              <a:t>试饮装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239512"/>
            <a:ext cx="2670048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362E"/>
                </a:solidFill>
                <a:latin typeface="Microsoft YaHei"/>
              </a:rPr>
              <a:t>礼赠套盒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5239512"/>
            <a:ext cx="2660904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362E"/>
                </a:solidFill>
                <a:latin typeface="Microsoft YaHei"/>
              </a:rPr>
              <a:t>日常小罐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5239512"/>
            <a:ext cx="269748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362E"/>
                </a:solidFill>
                <a:latin typeface="Microsoft YaHei"/>
              </a:rPr>
              <a:t>初次试饮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669280"/>
            <a:ext cx="1033272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盒型、标签文字与净含量为视觉占位；需由产品、合规和供应链共同确认。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6327648"/>
            <a:ext cx="10671048" cy="0"/>
          </a:xfrm>
          <a:prstGeom prst="line">
            <a:avLst/>
          </a:prstGeom>
          <a:ln w="1016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8" y="6382512"/>
            <a:ext cx="9948672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5E53"/>
                </a:solidFill>
                <a:latin typeface="Microsoft YaHei"/>
              </a:rPr>
              <a:t>虚构品牌示例｜方案演示，不对应真实产品、销量或供应链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502920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03 / 品牌触点 · 路径示意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30936"/>
            <a:ext cx="1083564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362E"/>
                </a:solidFill>
                <a:latin typeface="Microsoft YaHei"/>
              </a:rPr>
              <a:t>从第一眼，到试一口，再到带走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27632"/>
            <a:ext cx="2212848" cy="3529584"/>
          </a:xfrm>
          <a:prstGeom prst="roundRect">
            <a:avLst/>
          </a:prstGeom>
          <a:solidFill>
            <a:srgbClr val="20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810512"/>
            <a:ext cx="1975104" cy="3163824"/>
          </a:xfrm>
          <a:prstGeom prst="roundRect">
            <a:avLst/>
          </a:prstGeom>
          <a:solidFill>
            <a:srgbClr val="F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1975104"/>
            <a:ext cx="164592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3E34"/>
                </a:solidFill>
                <a:latin typeface="Microsoft YaHei"/>
              </a:rPr>
              <a:t>产品详情页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2450592"/>
            <a:ext cx="1536192" cy="694944"/>
          </a:xfrm>
          <a:prstGeom prst="rect">
            <a:avLst/>
          </a:prstGeom>
          <a:solidFill>
            <a:srgbClr val="C7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353312" y="2633472"/>
            <a:ext cx="1152144" cy="292608"/>
          </a:xfrm>
          <a:prstGeom prst="line">
            <a:avLst/>
          </a:prstGeom>
          <a:ln w="19050">
            <a:solidFill>
              <a:srgbClr val="315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1288" y="3264408"/>
            <a:ext cx="164592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风味信息位置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61872" y="3813048"/>
            <a:ext cx="1389888" cy="0"/>
          </a:xfrm>
          <a:prstGeom prst="line">
            <a:avLst/>
          </a:prstGeom>
          <a:ln w="1524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61872" y="4041648"/>
            <a:ext cx="1261872" cy="0"/>
          </a:xfrm>
          <a:prstGeom prst="line">
            <a:avLst/>
          </a:prstGeom>
          <a:ln w="1524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144" y="4398264"/>
            <a:ext cx="164592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85D40"/>
                </a:solidFill>
                <a:latin typeface="Microsoft YaHei"/>
              </a:rPr>
              <a:t>页面版式示意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9504"/>
            <a:ext cx="658368" cy="6400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B85D40"/>
                </a:solidFill>
                <a:latin typeface="Microsoft Ya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063240"/>
            <a:ext cx="2743200" cy="292608"/>
          </a:xfrm>
          <a:prstGeom prst="rect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4568" y="3355848"/>
            <a:ext cx="182880" cy="1307592"/>
          </a:xfrm>
          <a:prstGeom prst="rect">
            <a:avLst/>
          </a:prstGeom>
          <a:solidFill>
            <a:srgbClr val="31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7688" y="3355848"/>
            <a:ext cx="182880" cy="1307592"/>
          </a:xfrm>
          <a:prstGeom prst="rect">
            <a:avLst/>
          </a:prstGeom>
          <a:solidFill>
            <a:srgbClr val="31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0" y="2221992"/>
            <a:ext cx="694944" cy="384048"/>
          </a:xfrm>
          <a:prstGeom prst="ellipse">
            <a:avLst/>
          </a:prstGeom>
          <a:solidFill>
            <a:srgbClr val="EFE2CE"/>
          </a:solidFill>
          <a:ln w="1397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5093208" y="2441448"/>
            <a:ext cx="566928" cy="530352"/>
          </a:xfrm>
          <a:prstGeom prst="trapezoid">
            <a:avLst/>
          </a:prstGeom>
          <a:solidFill>
            <a:srgbClr val="FFFDF8"/>
          </a:solidFill>
          <a:ln w="13970">
            <a:solidFill>
              <a:srgbClr val="315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7608" y="2331720"/>
            <a:ext cx="429768" cy="164592"/>
          </a:xfrm>
          <a:prstGeom prst="ellipse">
            <a:avLst/>
          </a:prstGeom>
          <a:solidFill>
            <a:srgbClr val="C7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4754880"/>
            <a:ext cx="2596896" cy="4114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362E"/>
                </a:solidFill>
                <a:latin typeface="Microsoft YaHei"/>
              </a:rPr>
              <a:t>线下试饮点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8224" y="5166360"/>
            <a:ext cx="329184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冲泡与讲解，帮助理解风味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2889504"/>
            <a:ext cx="658368" cy="6400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B85D40"/>
                </a:solidFill>
                <a:latin typeface="Microsoft YaHei"/>
              </a:rPr>
              <a:t>→</a:t>
            </a:r>
          </a:p>
        </p:txBody>
      </p:sp>
      <p:sp>
        <p:nvSpPr>
          <p:cNvPr id="24" name="Parallelogram 23"/>
          <p:cNvSpPr/>
          <p:nvPr/>
        </p:nvSpPr>
        <p:spPr>
          <a:xfrm>
            <a:off x="8549640" y="2011680"/>
            <a:ext cx="2286000" cy="2542032"/>
          </a:xfrm>
          <a:prstGeom prst="parallelogram">
            <a:avLst/>
          </a:prstGeom>
          <a:solidFill>
            <a:srgbClr val="EFE2CE"/>
          </a:solidFill>
          <a:ln w="15240">
            <a:solidFill>
              <a:srgbClr val="B85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6528" y="2350008"/>
            <a:ext cx="1792224" cy="1764792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578608"/>
            <a:ext cx="1463040" cy="32918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3E34"/>
                </a:solidFill>
                <a:latin typeface="Microsoft YaHei"/>
              </a:rPr>
              <a:t>留一段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2926080"/>
            <a:ext cx="1609344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E34"/>
                </a:solidFill>
                <a:latin typeface="Microsoft YaHei"/>
              </a:rPr>
              <a:t>慢下来的时间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52560" y="3584448"/>
            <a:ext cx="1261872" cy="0"/>
          </a:xfrm>
          <a:prstGeom prst="line">
            <a:avLst/>
          </a:prstGeom>
          <a:ln w="17780">
            <a:solidFill>
              <a:srgbClr val="D98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69680" y="4754880"/>
            <a:ext cx="1700784" cy="41148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5362E"/>
                </a:solidFill>
                <a:latin typeface="Microsoft YaHei"/>
              </a:rPr>
              <a:t>赠礼小卡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5166360"/>
            <a:ext cx="2926080" cy="3840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不含真实二维码与购买链接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769864"/>
            <a:ext cx="10287000" cy="34747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产品页、试饮台与小卡都是概念版式，并非已上线的销售或预约入口。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" y="6327648"/>
            <a:ext cx="10671048" cy="0"/>
          </a:xfrm>
          <a:prstGeom prst="line">
            <a:avLst/>
          </a:prstGeom>
          <a:ln w="1016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6382512"/>
            <a:ext cx="9948672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5E53"/>
                </a:solidFill>
                <a:latin typeface="Microsoft YaHei"/>
              </a:rPr>
              <a:t>虚构品牌示例｜方案演示，不对应真实产品、销量或供应链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74320"/>
            <a:ext cx="5029200" cy="32004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04 / 推进建议 · 待真实委托方确认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30936"/>
            <a:ext cx="1083564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5362E"/>
                </a:solidFill>
                <a:latin typeface="Microsoft YaHei"/>
              </a:rPr>
              <a:t>先打样验证，再决定是否进入下一步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43000" y="2212848"/>
            <a:ext cx="6492240" cy="0"/>
          </a:xfrm>
          <a:prstGeom prst="line">
            <a:avLst/>
          </a:prstGeom>
          <a:ln w="2540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17320" y="1792224"/>
            <a:ext cx="822960" cy="822960"/>
          </a:xfrm>
          <a:prstGeom prst="ellipse">
            <a:avLst/>
          </a:prstGeom>
          <a:solidFill>
            <a:srgbClr val="315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1837943"/>
            <a:ext cx="786384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79776"/>
            <a:ext cx="1810512" cy="5029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362E"/>
                </a:solidFill>
                <a:latin typeface="Microsoft YaHei"/>
              </a:rPr>
              <a:t>定信息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01568"/>
            <a:ext cx="1938528" cy="95097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5E53"/>
                </a:solidFill>
                <a:latin typeface="Microsoft YaHei"/>
              </a:rPr>
              <a:t>茶品事实与合规文案先确认</a:t>
            </a:r>
          </a:p>
        </p:txBody>
      </p:sp>
      <p:sp>
        <p:nvSpPr>
          <p:cNvPr id="10" name="Oval 9"/>
          <p:cNvSpPr/>
          <p:nvPr/>
        </p:nvSpPr>
        <p:spPr>
          <a:xfrm>
            <a:off x="3867912" y="1792224"/>
            <a:ext cx="822960" cy="822960"/>
          </a:xfrm>
          <a:prstGeom prst="ellipse">
            <a:avLst/>
          </a:prstGeom>
          <a:solidFill>
            <a:srgbClr val="B8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837943"/>
            <a:ext cx="786384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79776"/>
            <a:ext cx="1810512" cy="5029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362E"/>
                </a:solidFill>
                <a:latin typeface="Microsoft YaHei"/>
              </a:rPr>
              <a:t>试结构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3401568"/>
            <a:ext cx="1938528" cy="95097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5E53"/>
                </a:solidFill>
                <a:latin typeface="Microsoft YaHei"/>
              </a:rPr>
              <a:t>盒型、材料与印刷样需打样</a:t>
            </a:r>
          </a:p>
        </p:txBody>
      </p:sp>
      <p:sp>
        <p:nvSpPr>
          <p:cNvPr id="14" name="Oval 13"/>
          <p:cNvSpPr/>
          <p:nvPr/>
        </p:nvSpPr>
        <p:spPr>
          <a:xfrm>
            <a:off x="6336792" y="1792224"/>
            <a:ext cx="822960" cy="822960"/>
          </a:xfrm>
          <a:prstGeom prst="ellipse">
            <a:avLst/>
          </a:prstGeom>
          <a:solidFill>
            <a:srgbClr val="20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37943"/>
            <a:ext cx="786384" cy="71323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8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79776"/>
            <a:ext cx="1810512" cy="5029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362E"/>
                </a:solidFill>
                <a:latin typeface="Microsoft YaHei"/>
              </a:rPr>
              <a:t>看反馈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3401568"/>
            <a:ext cx="1938528" cy="95097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5E53"/>
                </a:solidFill>
                <a:latin typeface="Microsoft YaHei"/>
              </a:rPr>
              <a:t>按渠道小范围观察后调整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6903720" cy="658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5E53"/>
                </a:solidFill>
                <a:latin typeface="Microsoft YaHei"/>
              </a:rPr>
              <a:t>执行周期、成本和渠道安排由实际供应商与委托方补齐。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1527048"/>
            <a:ext cx="3017520" cy="4370832"/>
          </a:xfrm>
          <a:prstGeom prst="roundRect">
            <a:avLst/>
          </a:prstGeom>
          <a:solidFill>
            <a:srgbClr val="20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1773936"/>
            <a:ext cx="2450592" cy="56692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DF8"/>
                </a:solidFill>
                <a:latin typeface="Microsoft YaHei"/>
              </a:rPr>
              <a:t>打样前四项确认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2734056"/>
            <a:ext cx="310896" cy="310896"/>
          </a:xfrm>
          <a:prstGeom prst="ellipse">
            <a:avLst/>
          </a:prstGeom>
          <a:solidFill>
            <a:srgbClr val="D98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697480"/>
            <a:ext cx="1965960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DF8"/>
                </a:solidFill>
                <a:latin typeface="Microsoft YaHei"/>
              </a:rPr>
              <a:t>茶品与风味事实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3392424"/>
            <a:ext cx="310896" cy="310896"/>
          </a:xfrm>
          <a:prstGeom prst="ellipse">
            <a:avLst/>
          </a:prstGeom>
          <a:solidFill>
            <a:srgbClr val="D98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3355848"/>
            <a:ext cx="1965960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DF8"/>
                </a:solidFill>
                <a:latin typeface="Microsoft YaHei"/>
              </a:rPr>
              <a:t>包装规格与材料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0" y="4050792"/>
            <a:ext cx="310896" cy="310896"/>
          </a:xfrm>
          <a:prstGeom prst="ellipse">
            <a:avLst/>
          </a:prstGeom>
          <a:solidFill>
            <a:srgbClr val="D98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4014216"/>
            <a:ext cx="1965960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DF8"/>
                </a:solidFill>
                <a:latin typeface="Microsoft YaHei"/>
              </a:rPr>
              <a:t>成本与供货周期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0" y="4709160"/>
            <a:ext cx="310896" cy="310896"/>
          </a:xfrm>
          <a:prstGeom prst="ellipse">
            <a:avLst/>
          </a:prstGeom>
          <a:solidFill>
            <a:srgbClr val="D98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4672584"/>
            <a:ext cx="1965960" cy="4206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DF8"/>
                </a:solidFill>
                <a:latin typeface="Microsoft YaHei"/>
              </a:rPr>
              <a:t>试用反馈方式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6327648"/>
            <a:ext cx="10671048" cy="0"/>
          </a:xfrm>
          <a:prstGeom prst="line">
            <a:avLst/>
          </a:prstGeom>
          <a:ln w="10160">
            <a:solidFill>
              <a:srgbClr val="C9BB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6382512"/>
            <a:ext cx="9948672" cy="31089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5E53"/>
                </a:solidFill>
                <a:latin typeface="Microsoft YaHei"/>
              </a:rPr>
              <a:t>虚构品牌示例｜方案演示，不对应真实产品、销量或供应链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382512"/>
            <a:ext cx="676656" cy="310896"/>
          </a:xfrm>
          <a:prstGeom prst="rect">
            <a:avLst/>
          </a:prstGeom>
          <a:noFill/>
        </p:spPr>
        <p:txBody>
          <a:bodyPr wrap="square" lIns="0" rIns="0" tIns="4572" bIns="457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85D4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