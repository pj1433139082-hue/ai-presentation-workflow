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61646"/>
  <p:notesSz cx="6861646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svg"/><Relationship Id="rId4" Type="http://schemas.openxmlformats.org/officeDocument/2006/relationships/image" Target="../media/image-1-4.png"/><Relationship Id="rId5" Type="http://schemas.openxmlformats.org/officeDocument/2006/relationships/image" Target="../media/image-1-5.svg"/><Relationship Id="rId6" Type="http://schemas.openxmlformats.org/officeDocument/2006/relationships/image" Target="../media/image-1-6.png"/><Relationship Id="rId7" Type="http://schemas.openxmlformats.org/officeDocument/2006/relationships/image" Target="../media/image-1-7.svg"/><Relationship Id="rId8" Type="http://schemas.openxmlformats.org/officeDocument/2006/relationships/image" Target="../media/image-1-8.png"/><Relationship Id="rId9" Type="http://schemas.openxmlformats.org/officeDocument/2006/relationships/image" Target="../media/image-1-9.svg"/><Relationship Id="rId10" Type="http://schemas.openxmlformats.org/officeDocument/2006/relationships/image" Target="../media/image-1-10.png"/><Relationship Id="rId11" Type="http://schemas.openxmlformats.org/officeDocument/2006/relationships/image" Target="../media/image-1-11.png"/><Relationship Id="rId12" Type="http://schemas.openxmlformats.org/officeDocument/2006/relationships/image" Target="../media/image-1-12.png"/><Relationship Id="rId13" Type="http://schemas.openxmlformats.org/officeDocument/2006/relationships/image" Target="../media/image-1-13.png"/><Relationship Id="rId14" Type="http://schemas.openxmlformats.org/officeDocument/2006/relationships/image" Target="../media/image-1-14.png"/><Relationship Id="rId15" Type="http://schemas.openxmlformats.org/officeDocument/2006/relationships/image" Target="../media/image-1-15.png"/><Relationship Id="rId16" Type="http://schemas.openxmlformats.org/officeDocument/2006/relationships/image" Target="../media/image-1-16.svg"/><Relationship Id="rId17" Type="http://schemas.openxmlformats.org/officeDocument/2006/relationships/image" Target="../media/image-1-17.png"/><Relationship Id="rId18" Type="http://schemas.openxmlformats.org/officeDocument/2006/relationships/image" Target="../media/image-1-18.svg"/><Relationship Id="rId19" Type="http://schemas.openxmlformats.org/officeDocument/2006/relationships/image" Target="../media/image-1-19.png"/><Relationship Id="rId20" Type="http://schemas.openxmlformats.org/officeDocument/2006/relationships/image" Target="../media/image-1-20.svg"/><Relationship Id="rId21" Type="http://schemas.openxmlformats.org/officeDocument/2006/relationships/image" Target="../media/image-1-21.png"/><Relationship Id="rId22" Type="http://schemas.openxmlformats.org/officeDocument/2006/relationships/image" Target="../media/image-1-22.svg"/><Relationship Id="rId23" Type="http://schemas.openxmlformats.org/officeDocument/2006/relationships/image" Target="../media/image-1-23.png"/><Relationship Id="rId24" Type="http://schemas.openxmlformats.org/officeDocument/2006/relationships/image" Target="../media/image-1-24.svg"/><Relationship Id="rId25" Type="http://schemas.openxmlformats.org/officeDocument/2006/relationships/image" Target="../media/image-1-25.png"/><Relationship Id="rId26" Type="http://schemas.openxmlformats.org/officeDocument/2006/relationships/image" Target="../media/image-1-26.svg"/><Relationship Id="rId27" Type="http://schemas.openxmlformats.org/officeDocument/2006/relationships/image" Target="../media/image-1-27.png"/><Relationship Id="rId28" Type="http://schemas.openxmlformats.org/officeDocument/2006/relationships/image" Target="../media/image-1-28.svg"/><Relationship Id="rId29" Type="http://schemas.openxmlformats.org/officeDocument/2006/relationships/image" Target="../media/image-1-29.png"/><Relationship Id="rId30" Type="http://schemas.openxmlformats.org/officeDocument/2006/relationships/image" Target="../media/image-1-30.svg"/><Relationship Id="rId31" Type="http://schemas.openxmlformats.org/officeDocument/2006/relationships/image" Target="../media/image-1-31.png"/><Relationship Id="rId32" Type="http://schemas.openxmlformats.org/officeDocument/2006/relationships/image" Target="../media/image-1-32.svg"/><Relationship Id="rId33" Type="http://schemas.openxmlformats.org/officeDocument/2006/relationships/image" Target="../media/image-1-33.png"/><Relationship Id="rId34" Type="http://schemas.openxmlformats.org/officeDocument/2006/relationships/image" Target="../media/image-1-34.svg"/><Relationship Id="rId35" Type="http://schemas.openxmlformats.org/officeDocument/2006/relationships/image" Target="../media/image-1-35.png"/><Relationship Id="rId36" Type="http://schemas.openxmlformats.org/officeDocument/2006/relationships/image" Target="../media/image-1-36.svg"/><Relationship Id="rId37" Type="http://schemas.openxmlformats.org/officeDocument/2006/relationships/image" Target="../media/image-1-37.png"/><Relationship Id="rId38" Type="http://schemas.openxmlformats.org/officeDocument/2006/relationships/image" Target="../media/image-1-38.svg"/><Relationship Id="rId39" Type="http://schemas.openxmlformats.org/officeDocument/2006/relationships/image" Target="../media/image-1-39.png"/><Relationship Id="rId40" Type="http://schemas.openxmlformats.org/officeDocument/2006/relationships/image" Target="../media/image-1-40.svg"/><Relationship Id="rId41" Type="http://schemas.openxmlformats.org/officeDocument/2006/relationships/image" Target="../media/image-1-41.png"/><Relationship Id="rId42" Type="http://schemas.openxmlformats.org/officeDocument/2006/relationships/image" Target="../media/image-1-42.svg"/><Relationship Id="rId43" Type="http://schemas.openxmlformats.org/officeDocument/2006/relationships/image" Target="../media/image-1-43.png"/><Relationship Id="rId44" Type="http://schemas.openxmlformats.org/officeDocument/2006/relationships/image" Target="../media/image-1-44.svg"/><Relationship Id="rId45" Type="http://schemas.openxmlformats.org/officeDocument/2006/relationships/image" Target="../media/image-1-45.png"/><Relationship Id="rId46" Type="http://schemas.openxmlformats.org/officeDocument/2006/relationships/image" Target="../media/image-1-46.svg"/><Relationship Id="rId47" Type="http://schemas.openxmlformats.org/officeDocument/2006/relationships/image" Target="../media/image-1-47.png"/><Relationship Id="rId48" Type="http://schemas.openxmlformats.org/officeDocument/2006/relationships/image" Target="../media/image-1-48.svg"/><Relationship Id="rId49" Type="http://schemas.openxmlformats.org/officeDocument/2006/relationships/image" Target="../media/image-1-49.png"/><Relationship Id="rId50" Type="http://schemas.openxmlformats.org/officeDocument/2006/relationships/image" Target="../media/image-1-50.svg"/><Relationship Id="rId51" Type="http://schemas.openxmlformats.org/officeDocument/2006/relationships/slideLayout" Target="../slideLayouts/slideLayout1.xml"/><Relationship Id="rId5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svg"/><Relationship Id="rId5" Type="http://schemas.openxmlformats.org/officeDocument/2006/relationships/image" Target="../media/image-2-5.png"/><Relationship Id="rId6" Type="http://schemas.openxmlformats.org/officeDocument/2006/relationships/image" Target="../media/image-2-6.svg"/><Relationship Id="rId7" Type="http://schemas.openxmlformats.org/officeDocument/2006/relationships/image" Target="../media/image-2-7.png"/><Relationship Id="rId8" Type="http://schemas.openxmlformats.org/officeDocument/2006/relationships/image" Target="../media/image-2-8.svg"/><Relationship Id="rId9" Type="http://schemas.openxmlformats.org/officeDocument/2006/relationships/image" Target="../media/image-2-9.png"/><Relationship Id="rId10" Type="http://schemas.openxmlformats.org/officeDocument/2006/relationships/image" Target="../media/image-2-10.svg"/><Relationship Id="rId11" Type="http://schemas.openxmlformats.org/officeDocument/2006/relationships/image" Target="../media/image-2-11.png"/><Relationship Id="rId12" Type="http://schemas.openxmlformats.org/officeDocument/2006/relationships/image" Target="../media/image-2-12.sv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02-background-paper" descr="S02-background-paper - backgroun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61646"/>
          </a:xfrm>
          <a:prstGeom prst="rect">
            <a:avLst/>
          </a:prstGeom>
        </p:spPr>
      </p:pic>
      <p:pic>
        <p:nvPicPr>
          <p:cNvPr id="3" name="S02-flow-orange-heat-production" descr="S02-flow-orange-heat-production - connector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61646"/>
          </a:xfrm>
          <a:prstGeom prst="rect">
            <a:avLst/>
          </a:prstGeom>
        </p:spPr>
      </p:pic>
      <p:pic>
        <p:nvPicPr>
          <p:cNvPr id="4" name="S02-flow-orange-production-exhaust" descr="S02-flow-orange-production-exhaust - connector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0" y="0"/>
            <a:ext cx="12192000" cy="6861646"/>
          </a:xfrm>
          <a:prstGeom prst="rect">
            <a:avLst/>
          </a:prstGeom>
        </p:spPr>
      </p:pic>
      <p:pic>
        <p:nvPicPr>
          <p:cNvPr id="5" name="S02-flow-orange-exhaust-exchanger" descr="S02-flow-orange-exhaust-exchanger - connector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0" y="0"/>
            <a:ext cx="12192000" cy="6861646"/>
          </a:xfrm>
          <a:prstGeom prst="rect">
            <a:avLst/>
          </a:prstGeom>
        </p:spPr>
      </p:pic>
      <p:pic>
        <p:nvPicPr>
          <p:cNvPr id="6" name="S02-flow-teal-return" descr="S02-flow-teal-return - connector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0" y="0"/>
            <a:ext cx="12192000" cy="6861646"/>
          </a:xfrm>
          <a:prstGeom prst="rect">
            <a:avLst/>
          </a:prstGeom>
        </p:spPr>
      </p:pic>
      <p:pic>
        <p:nvPicPr>
          <p:cNvPr id="7" name="S02-device-heating" descr="S02-device-heating - illustration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78185" y="1286212"/>
            <a:ext cx="3275433" cy="2529475"/>
          </a:xfrm>
          <a:prstGeom prst="rect">
            <a:avLst/>
          </a:prstGeom>
        </p:spPr>
      </p:pic>
      <p:pic>
        <p:nvPicPr>
          <p:cNvPr id="8" name="S02-device-production" descr="S02-device-production - illustration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219438" y="2142496"/>
            <a:ext cx="4433746" cy="1662618"/>
          </a:xfrm>
          <a:prstGeom prst="rect">
            <a:avLst/>
          </a:prstGeom>
        </p:spPr>
      </p:pic>
      <p:pic>
        <p:nvPicPr>
          <p:cNvPr id="9" name="S02-device-exhaust" descr="S02-device-exhaust - illustration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795966" y="1236700"/>
            <a:ext cx="1683984" cy="2526048"/>
          </a:xfrm>
          <a:prstGeom prst="rect">
            <a:avLst/>
          </a:prstGeom>
        </p:spPr>
      </p:pic>
      <p:pic>
        <p:nvPicPr>
          <p:cNvPr id="10" name="S02-device-recovery" descr="S02-device-recovery - illustration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346244" y="3797239"/>
            <a:ext cx="3352435" cy="1889031"/>
          </a:xfrm>
          <a:prstGeom prst="rect">
            <a:avLst/>
          </a:prstGeom>
        </p:spPr>
      </p:pic>
      <p:pic>
        <p:nvPicPr>
          <p:cNvPr id="11" name="S02-device-exchanger" descr="S02-device-exchanger - illustration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294206" y="3749988"/>
            <a:ext cx="3677871" cy="2071109"/>
          </a:xfrm>
          <a:prstGeom prst="rect">
            <a:avLst/>
          </a:prstGeom>
        </p:spPr>
      </p:pic>
      <p:pic>
        <p:nvPicPr>
          <p:cNvPr id="12" name="S02-flow-orange-exchanger-side" descr="S02-flow-orange-exchanger-side - connector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0" y="0"/>
            <a:ext cx="12192000" cy="6861646"/>
          </a:xfrm>
          <a:prstGeom prst="rect">
            <a:avLst/>
          </a:prstGeom>
        </p:spPr>
      </p:pic>
      <p:pic>
        <p:nvPicPr>
          <p:cNvPr id="13" name="S02-arrow-hot-heat-production" descr="S02-arrow-hot-heat-production - arrow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0" y="0"/>
            <a:ext cx="12192000" cy="6861646"/>
          </a:xfrm>
          <a:prstGeom prst="rect">
            <a:avLst/>
          </a:prstGeom>
        </p:spPr>
      </p:pic>
      <p:pic>
        <p:nvPicPr>
          <p:cNvPr id="14" name="S02-arrow-hot-production-exhaust" descr="S02-arrow-hot-production-exhaust - arrow">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0" y="0"/>
            <a:ext cx="12192000" cy="6861646"/>
          </a:xfrm>
          <a:prstGeom prst="rect">
            <a:avLst/>
          </a:prstGeom>
        </p:spPr>
      </p:pic>
      <p:pic>
        <p:nvPicPr>
          <p:cNvPr id="15" name="S02-arrow-hot-exhaust-down" descr="S02-arrow-hot-exhaust-down - arrow">    </p:cNvPr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0" y="0"/>
            <a:ext cx="12192000" cy="6861646"/>
          </a:xfrm>
          <a:prstGeom prst="rect">
            <a:avLst/>
          </a:prstGeom>
        </p:spPr>
      </p:pic>
      <p:pic>
        <p:nvPicPr>
          <p:cNvPr id="16" name="S02-arrow-hot-exchanger-out" descr="S02-arrow-hot-exchanger-out - arrow">    </p:cNvPr>
          <p:cNvPicPr>
            <a:picLocks noChangeAspect="1"/>
          </p:cNvPicPr>
          <p:nvPr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0" y="0"/>
            <a:ext cx="12192000" cy="6861646"/>
          </a:xfrm>
          <a:prstGeom prst="rect">
            <a:avLst/>
          </a:prstGeom>
        </p:spPr>
      </p:pic>
      <p:pic>
        <p:nvPicPr>
          <p:cNvPr id="17" name="S02-arrow-return-left-1" descr="S02-arrow-return-left-1 - arrow">    </p:cNvPr>
          <p:cNvPicPr>
            <a:picLocks noChangeAspect="1"/>
          </p:cNvPicPr>
          <p:nvPr/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0" y="0"/>
            <a:ext cx="12192000" cy="6861646"/>
          </a:xfrm>
          <a:prstGeom prst="rect">
            <a:avLst/>
          </a:prstGeom>
        </p:spPr>
      </p:pic>
      <p:pic>
        <p:nvPicPr>
          <p:cNvPr id="18" name="S02-arrow-return-left-2" descr="S02-arrow-return-left-2 - arrow">    </p:cNvPr>
          <p:cNvPicPr>
            <a:picLocks noChangeAspect="1"/>
          </p:cNvPicPr>
          <p:nvPr/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0" y="0"/>
            <a:ext cx="12192000" cy="6861646"/>
          </a:xfrm>
          <a:prstGeom prst="rect">
            <a:avLst/>
          </a:prstGeom>
        </p:spPr>
      </p:pic>
      <p:pic>
        <p:nvPicPr>
          <p:cNvPr id="19" name="S02-arrow-return-left-3" descr="S02-arrow-return-left-3 - arrow">    </p:cNvPr>
          <p:cNvPicPr>
            <a:picLocks noChangeAspect="1"/>
          </p:cNvPicPr>
          <p:nvPr/>
        </p:nvPicPr>
        <p:blipFill>
          <a:blip r:embed="rId29"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0" y="0"/>
            <a:ext cx="12192000" cy="6861646"/>
          </a:xfrm>
          <a:prstGeom prst="rect">
            <a:avLst/>
          </a:prstGeom>
        </p:spPr>
      </p:pic>
      <p:pic>
        <p:nvPicPr>
          <p:cNvPr id="20" name="S02-arrow-return-up-1" descr="S02-arrow-return-up-1 - arrow">    </p:cNvPr>
          <p:cNvPicPr>
            <a:picLocks noChangeAspect="1"/>
          </p:cNvPicPr>
          <p:nvPr/>
        </p:nvPicPr>
        <p:blipFill>
          <a:blip r:embed="rId31"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0" y="0"/>
            <a:ext cx="12192000" cy="6861646"/>
          </a:xfrm>
          <a:prstGeom prst="rect">
            <a:avLst/>
          </a:prstGeom>
        </p:spPr>
      </p:pic>
      <p:pic>
        <p:nvPicPr>
          <p:cNvPr id="21" name="S02-arrow-return-up-2" descr="S02-arrow-return-up-2 - arrow">    </p:cNvPr>
          <p:cNvPicPr>
            <a:picLocks noChangeAspect="1"/>
          </p:cNvPicPr>
          <p:nvPr/>
        </p:nvPicPr>
        <p:blipFill>
          <a:blip r:embed="rId33"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tretch>
            <a:fillRect/>
          </a:stretch>
        </p:blipFill>
        <p:spPr>
          <a:xfrm>
            <a:off x="0" y="0"/>
            <a:ext cx="12192000" cy="6861646"/>
          </a:xfrm>
          <a:prstGeom prst="rect">
            <a:avLst/>
          </a:prstGeom>
        </p:spPr>
      </p:pic>
      <p:pic>
        <p:nvPicPr>
          <p:cNvPr id="22" name="S02-badge-shell-heating" descr="S02-badge-shell-heating - decoration">    </p:cNvPr>
          <p:cNvPicPr>
            <a:picLocks noChangeAspect="1"/>
          </p:cNvPicPr>
          <p:nvPr/>
        </p:nvPicPr>
        <p:blipFill>
          <a:blip r:embed="rId35">
            <a:extLst>
              <a:ext uri="{96DAC541-7B7A-43D3-8B79-37D633B846F1}">
                <asvg:svgBlip xmlns:asvg="http://schemas.microsoft.com/office/drawing/2016/SVG/main" r:embed="rId36"/>
              </a:ext>
            </a:extLst>
          </a:blip>
          <a:stretch>
            <a:fillRect/>
          </a:stretch>
        </p:blipFill>
        <p:spPr>
          <a:xfrm>
            <a:off x="0" y="0"/>
            <a:ext cx="12192000" cy="6861646"/>
          </a:xfrm>
          <a:prstGeom prst="rect">
            <a:avLst/>
          </a:prstGeom>
        </p:spPr>
      </p:pic>
      <p:pic>
        <p:nvPicPr>
          <p:cNvPr id="23" name="S02-badge-shell-production" descr="S02-badge-shell-production - decoration">    </p:cNvPr>
          <p:cNvPicPr>
            <a:picLocks noChangeAspect="1"/>
          </p:cNvPicPr>
          <p:nvPr/>
        </p:nvPicPr>
        <p:blipFill>
          <a:blip r:embed="rId37">
            <a:extLst>
              <a:ext uri="{96DAC541-7B7A-43D3-8B79-37D633B846F1}">
                <asvg:svgBlip xmlns:asvg="http://schemas.microsoft.com/office/drawing/2016/SVG/main" r:embed="rId38"/>
              </a:ext>
            </a:extLst>
          </a:blip>
          <a:stretch>
            <a:fillRect/>
          </a:stretch>
        </p:blipFill>
        <p:spPr>
          <a:xfrm>
            <a:off x="0" y="0"/>
            <a:ext cx="12192000" cy="6861646"/>
          </a:xfrm>
          <a:prstGeom prst="rect">
            <a:avLst/>
          </a:prstGeom>
        </p:spPr>
      </p:pic>
      <p:pic>
        <p:nvPicPr>
          <p:cNvPr id="24" name="S02-badge-shell-exhaust" descr="S02-badge-shell-exhaust - decoration">    </p:cNvPr>
          <p:cNvPicPr>
            <a:picLocks noChangeAspect="1"/>
          </p:cNvPicPr>
          <p:nvPr/>
        </p:nvPicPr>
        <p:blipFill>
          <a:blip r:embed="rId39">
            <a:extLst>
              <a:ext uri="{96DAC541-7B7A-43D3-8B79-37D633B846F1}">
                <asvg:svgBlip xmlns:asvg="http://schemas.microsoft.com/office/drawing/2016/SVG/main" r:embed="rId40"/>
              </a:ext>
            </a:extLst>
          </a:blip>
          <a:stretch>
            <a:fillRect/>
          </a:stretch>
        </p:blipFill>
        <p:spPr>
          <a:xfrm>
            <a:off x="0" y="0"/>
            <a:ext cx="12192000" cy="6861646"/>
          </a:xfrm>
          <a:prstGeom prst="rect">
            <a:avLst/>
          </a:prstGeom>
        </p:spPr>
      </p:pic>
      <p:pic>
        <p:nvPicPr>
          <p:cNvPr id="25" name="S02-badge-shell-reuse" descr="S02-badge-shell-reuse - decoration">    </p:cNvPr>
          <p:cNvPicPr>
            <a:picLocks noChangeAspect="1"/>
          </p:cNvPicPr>
          <p:nvPr/>
        </p:nvPicPr>
        <p:blipFill>
          <a:blip r:embed="rId41">
            <a:extLst>
              <a:ext uri="{96DAC541-7B7A-43D3-8B79-37D633B846F1}">
                <asvg:svgBlip xmlns:asvg="http://schemas.microsoft.com/office/drawing/2016/SVG/main" r:embed="rId42"/>
              </a:ext>
            </a:extLst>
          </a:blip>
          <a:stretch>
            <a:fillRect/>
          </a:stretch>
        </p:blipFill>
        <p:spPr>
          <a:xfrm>
            <a:off x="0" y="0"/>
            <a:ext cx="12192000" cy="6861646"/>
          </a:xfrm>
          <a:prstGeom prst="rect">
            <a:avLst/>
          </a:prstGeom>
        </p:spPr>
      </p:pic>
      <p:pic>
        <p:nvPicPr>
          <p:cNvPr id="26" name="S02-badge-shell-exchanger" descr="S02-badge-shell-exchanger - decoration">    </p:cNvPr>
          <p:cNvPicPr>
            <a:picLocks noChangeAspect="1"/>
          </p:cNvPicPr>
          <p:nvPr/>
        </p:nvPicPr>
        <p:blipFill>
          <a:blip r:embed="rId43">
            <a:extLst>
              <a:ext uri="{96DAC541-7B7A-43D3-8B79-37D633B846F1}">
                <asvg:svgBlip xmlns:asvg="http://schemas.microsoft.com/office/drawing/2016/SVG/main" r:embed="rId44"/>
              </a:ext>
            </a:extLst>
          </a:blip>
          <a:stretch>
            <a:fillRect/>
          </a:stretch>
        </p:blipFill>
        <p:spPr>
          <a:xfrm>
            <a:off x="0" y="0"/>
            <a:ext cx="12192000" cy="6861646"/>
          </a:xfrm>
          <a:prstGeom prst="rect">
            <a:avLst/>
          </a:prstGeom>
        </p:spPr>
      </p:pic>
      <p:sp>
        <p:nvSpPr>
          <p:cNvPr id="27" name="S02-text-badge-heating"/>
          <p:cNvSpPr/>
          <p:nvPr/>
        </p:nvSpPr>
        <p:spPr>
          <a:xfrm>
            <a:off x="2231311" y="1633378"/>
            <a:ext cx="729187" cy="306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2182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加热</a:t>
            </a:r>
            <a:endParaRPr lang="en-US" sz="2182" dirty="0"/>
          </a:p>
        </p:txBody>
      </p:sp>
      <p:sp>
        <p:nvSpPr>
          <p:cNvPr id="28" name="S02-text-badge-production"/>
          <p:cNvSpPr/>
          <p:nvPr/>
        </p:nvSpPr>
        <p:spPr>
          <a:xfrm>
            <a:off x="6096000" y="1633378"/>
            <a:ext cx="780230" cy="306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2182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生产</a:t>
            </a:r>
            <a:endParaRPr lang="en-US" sz="2182" dirty="0"/>
          </a:p>
        </p:txBody>
      </p:sp>
      <p:sp>
        <p:nvSpPr>
          <p:cNvPr id="29" name="S02-text-badge-exhaust"/>
          <p:cNvSpPr/>
          <p:nvPr/>
        </p:nvSpPr>
        <p:spPr>
          <a:xfrm>
            <a:off x="9530469" y="1633378"/>
            <a:ext cx="882316" cy="306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2182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排热</a:t>
            </a:r>
            <a:endParaRPr lang="en-US" sz="2182" dirty="0"/>
          </a:p>
        </p:txBody>
      </p:sp>
      <p:sp>
        <p:nvSpPr>
          <p:cNvPr id="30" name="S02-text-badge-reuse"/>
          <p:cNvSpPr/>
          <p:nvPr/>
        </p:nvSpPr>
        <p:spPr>
          <a:xfrm>
            <a:off x="5738699" y="5643904"/>
            <a:ext cx="721895" cy="306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2182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回用</a:t>
            </a:r>
            <a:endParaRPr lang="en-US" sz="2182" dirty="0"/>
          </a:p>
        </p:txBody>
      </p:sp>
      <p:sp>
        <p:nvSpPr>
          <p:cNvPr id="31" name="S02-text-badge-exchanger"/>
          <p:cNvSpPr/>
          <p:nvPr/>
        </p:nvSpPr>
        <p:spPr>
          <a:xfrm>
            <a:off x="9545053" y="5643904"/>
            <a:ext cx="867732" cy="306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2182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换热</a:t>
            </a:r>
            <a:endParaRPr lang="en-US" sz="2182" dirty="0"/>
          </a:p>
        </p:txBody>
      </p:sp>
      <p:pic>
        <p:nvPicPr>
          <p:cNvPr id="32" name="S02-divider-title" descr="S02-divider-title - decoration">    </p:cNvPr>
          <p:cNvPicPr>
            <a:picLocks noChangeAspect="1"/>
          </p:cNvPicPr>
          <p:nvPr/>
        </p:nvPicPr>
        <p:blipFill>
          <a:blip r:embed="rId45">
            <a:extLst>
              <a:ext uri="{96DAC541-7B7A-43D3-8B79-37D633B846F1}">
                <asvg:svgBlip xmlns:asvg="http://schemas.microsoft.com/office/drawing/2016/SVG/main" r:embed="rId46"/>
              </a:ext>
            </a:extLst>
          </a:blip>
          <a:stretch>
            <a:fillRect/>
          </a:stretch>
        </p:blipFill>
        <p:spPr>
          <a:xfrm>
            <a:off x="0" y="0"/>
            <a:ext cx="12192000" cy="6861646"/>
          </a:xfrm>
          <a:prstGeom prst="rect">
            <a:avLst/>
          </a:prstGeom>
        </p:spPr>
      </p:pic>
      <p:pic>
        <p:nvPicPr>
          <p:cNvPr id="33" name="S02-divider-footer-left" descr="S02-divider-footer-left - decoration">    </p:cNvPr>
          <p:cNvPicPr>
            <a:picLocks noChangeAspect="1"/>
          </p:cNvPicPr>
          <p:nvPr/>
        </p:nvPicPr>
        <p:blipFill>
          <a:blip r:embed="rId47">
            <a:extLst>
              <a:ext uri="{96DAC541-7B7A-43D3-8B79-37D633B846F1}">
                <asvg:svgBlip xmlns:asvg="http://schemas.microsoft.com/office/drawing/2016/SVG/main" r:embed="rId48"/>
              </a:ext>
            </a:extLst>
          </a:blip>
          <a:stretch>
            <a:fillRect/>
          </a:stretch>
        </p:blipFill>
        <p:spPr>
          <a:xfrm>
            <a:off x="0" y="0"/>
            <a:ext cx="12192000" cy="6861646"/>
          </a:xfrm>
          <a:prstGeom prst="rect">
            <a:avLst/>
          </a:prstGeom>
        </p:spPr>
      </p:pic>
      <p:pic>
        <p:nvPicPr>
          <p:cNvPr id="34" name="S02-divider-footer-right" descr="S02-divider-footer-right - decoration">    </p:cNvPr>
          <p:cNvPicPr>
            <a:picLocks noChangeAspect="1"/>
          </p:cNvPicPr>
          <p:nvPr/>
        </p:nvPicPr>
        <p:blipFill>
          <a:blip r:embed="rId49">
            <a:extLst>
              <a:ext uri="{96DAC541-7B7A-43D3-8B79-37D633B846F1}">
                <asvg:svgBlip xmlns:asvg="http://schemas.microsoft.com/office/drawing/2016/SVG/main" r:embed="rId50"/>
              </a:ext>
            </a:extLst>
          </a:blip>
          <a:stretch>
            <a:fillRect/>
          </a:stretch>
        </p:blipFill>
        <p:spPr>
          <a:xfrm>
            <a:off x="0" y="0"/>
            <a:ext cx="12192000" cy="6861646"/>
          </a:xfrm>
          <a:prstGeom prst="rect">
            <a:avLst/>
          </a:prstGeom>
        </p:spPr>
      </p:pic>
      <p:sp>
        <p:nvSpPr>
          <p:cNvPr id="35" name="S02-text-title"/>
          <p:cNvSpPr/>
          <p:nvPr/>
        </p:nvSpPr>
        <p:spPr>
          <a:xfrm>
            <a:off x="3558431" y="255215"/>
            <a:ext cx="5366813" cy="6198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5167" b="1" dirty="0">
                <a:solidFill>
                  <a:srgbClr val="01234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把损失，接回流程。</a:t>
            </a:r>
            <a:endParaRPr lang="en-US" sz="5167" dirty="0"/>
          </a:p>
        </p:txBody>
      </p:sp>
      <p:sp>
        <p:nvSpPr>
          <p:cNvPr id="36" name="S02-text-subtitle"/>
          <p:cNvSpPr/>
          <p:nvPr/>
        </p:nvSpPr>
        <p:spPr>
          <a:xfrm>
            <a:off x="3259464" y="1079196"/>
            <a:ext cx="5716823" cy="277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952" dirty="0">
                <a:solidFill>
                  <a:srgbClr val="0015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先找到稳定热源，再匹配同时发生的用热需求。</a:t>
            </a:r>
            <a:endParaRPr lang="en-US" sz="1952" dirty="0"/>
          </a:p>
        </p:txBody>
      </p:sp>
      <p:sp>
        <p:nvSpPr>
          <p:cNvPr id="37" name="S02-text-footer"/>
          <p:cNvSpPr/>
          <p:nvPr/>
        </p:nvSpPr>
        <p:spPr>
          <a:xfrm>
            <a:off x="4448038" y="6416842"/>
            <a:ext cx="3346967" cy="175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21" dirty="0">
                <a:solidFill>
                  <a:srgbClr val="13243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流程为机制示意，不构成工程设计参数。</a:t>
            </a:r>
            <a:endParaRPr lang="en-US" sz="132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03-background" descr="S03-background - backgroun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61646"/>
          </a:xfrm>
          <a:prstGeom prst="rect">
            <a:avLst/>
          </a:prstGeom>
        </p:spPr>
      </p:pic>
      <p:pic>
        <p:nvPicPr>
          <p:cNvPr id="3" name="S03-membrane" descr="S03-membrane - illustrati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7347" y="3245282"/>
            <a:ext cx="4271291" cy="2403879"/>
          </a:xfrm>
          <a:prstGeom prst="rect">
            <a:avLst/>
          </a:prstGeom>
        </p:spPr>
      </p:pic>
      <p:pic>
        <p:nvPicPr>
          <p:cNvPr id="4" name="S03-chart" descr="S03-chart - chart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04172" y="1852134"/>
            <a:ext cx="7802297" cy="4695962"/>
          </a:xfrm>
          <a:prstGeom prst="rect">
            <a:avLst/>
          </a:prstGeom>
        </p:spPr>
      </p:pic>
      <p:pic>
        <p:nvPicPr>
          <p:cNvPr id="5" name="S03-divider" descr="S03-divider - decoration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261684" y="1465665"/>
            <a:ext cx="14584" cy="5002220"/>
          </a:xfrm>
          <a:prstGeom prst="rect">
            <a:avLst/>
          </a:prstGeom>
        </p:spPr>
      </p:pic>
      <p:pic>
        <p:nvPicPr>
          <p:cNvPr id="6" name="S03-bullet-1" descr="S03-bullet-1 - decoration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509608" y="1983388"/>
            <a:ext cx="116670" cy="116670"/>
          </a:xfrm>
          <a:prstGeom prst="rect">
            <a:avLst/>
          </a:prstGeom>
        </p:spPr>
      </p:pic>
      <p:pic>
        <p:nvPicPr>
          <p:cNvPr id="7" name="S03-bullet-2" descr="S03-bullet-2 - decoration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509608" y="3011541"/>
            <a:ext cx="116670" cy="116670"/>
          </a:xfrm>
          <a:prstGeom prst="rect">
            <a:avLst/>
          </a:prstGeom>
        </p:spPr>
      </p:pic>
      <p:pic>
        <p:nvPicPr>
          <p:cNvPr id="8" name="S03-qualifier-frame" descr="S03-qualifier-frame - decoration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516900" y="5738699"/>
            <a:ext cx="3427177" cy="641684"/>
          </a:xfrm>
          <a:prstGeom prst="rect">
            <a:avLst/>
          </a:prstGeom>
        </p:spPr>
      </p:pic>
      <p:sp>
        <p:nvSpPr>
          <p:cNvPr id="9" name="S03-title"/>
          <p:cNvSpPr/>
          <p:nvPr/>
        </p:nvSpPr>
        <p:spPr>
          <a:xfrm>
            <a:off x="539598" y="226048"/>
            <a:ext cx="7729378" cy="10062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5742" b="1" dirty="0">
                <a:solidFill>
                  <a:srgbClr val="001E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先看趋势，再讨论机理。</a:t>
            </a:r>
            <a:endParaRPr lang="en-US" sz="5742" dirty="0"/>
          </a:p>
        </p:txBody>
      </p:sp>
      <p:sp>
        <p:nvSpPr>
          <p:cNvPr id="10" name="S03-chart-heading"/>
          <p:cNvSpPr/>
          <p:nvPr/>
        </p:nvSpPr>
        <p:spPr>
          <a:xfrm>
            <a:off x="517722" y="1334411"/>
            <a:ext cx="5250144" cy="5906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986" b="1" dirty="0">
                <a:solidFill>
                  <a:srgbClr val="001E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归一化通量（示例数据）</a:t>
            </a:r>
            <a:endParaRPr lang="en-US" sz="2986" dirty="0"/>
          </a:p>
        </p:txBody>
      </p:sp>
      <p:sp>
        <p:nvSpPr>
          <p:cNvPr id="11" name="S03-single"/>
          <p:cNvSpPr/>
          <p:nvPr/>
        </p:nvSpPr>
        <p:spPr>
          <a:xfrm>
            <a:off x="8815866" y="1844842"/>
            <a:ext cx="3252172" cy="7875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46000"/>
              </a:lnSpc>
              <a:buNone/>
            </a:pPr>
            <a:r>
              <a:rPr lang="en-US" sz="2124" b="1" dirty="0">
                <a:solidFill>
                  <a:srgbClr val="001E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单次示例曲线，不能推断</a:t>
            </a:r>
            <a:endParaRPr lang="en-US" sz="2124" dirty="0"/>
          </a:p>
          <a:p>
            <a:pPr algn="l" indent="0" marL="0">
              <a:lnSpc>
                <a:spcPct val="146000"/>
              </a:lnSpc>
              <a:buNone/>
            </a:pPr>
            <a:r>
              <a:rPr lang="en-US" sz="2124" b="1" dirty="0">
                <a:solidFill>
                  <a:srgbClr val="001E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显著性。</a:t>
            </a:r>
            <a:endParaRPr lang="en-US" sz="2124" dirty="0"/>
          </a:p>
        </p:txBody>
      </p:sp>
      <p:sp>
        <p:nvSpPr>
          <p:cNvPr id="12" name="S03-takeaway"/>
          <p:cNvSpPr/>
          <p:nvPr/>
        </p:nvSpPr>
        <p:spPr>
          <a:xfrm>
            <a:off x="8815866" y="2902163"/>
            <a:ext cx="3295923" cy="430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46000"/>
              </a:lnSpc>
              <a:buNone/>
            </a:pPr>
            <a:r>
              <a:rPr lang="en-US" sz="2124" b="1" dirty="0">
                <a:solidFill>
                  <a:srgbClr val="001E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机理判断仍需重复与对照。</a:t>
            </a:r>
            <a:endParaRPr lang="en-US" sz="2124" dirty="0"/>
          </a:p>
        </p:txBody>
      </p:sp>
      <p:sp>
        <p:nvSpPr>
          <p:cNvPr id="13" name="S03-qualifier"/>
          <p:cNvSpPr/>
          <p:nvPr/>
        </p:nvSpPr>
        <p:spPr>
          <a:xfrm>
            <a:off x="8728364" y="5855368"/>
            <a:ext cx="3091751" cy="452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2297" b="1" dirty="0">
                <a:solidFill>
                  <a:srgbClr val="E22C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演示数据，非实验结果</a:t>
            </a:r>
            <a:endParaRPr lang="en-US" sz="2297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Independent reconstruction proof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Independent slide reconstruction proof</dc:title>
  <dc:subject>Standalone proof deck; not formal APW assembly acceptance</dc:subject>
  <dc:creator>APW reconstruction proof builder</dc:creator>
  <cp:lastModifiedBy>APW reconstruction proof builder</cp:lastModifiedBy>
  <cp:revision>1</cp:revision>
  <dcterms:created xsi:type="dcterms:W3CDTF">2026-10-13T16:56:10Z</dcterms:created>
  <dcterms:modified xsi:type="dcterms:W3CDTF">2026-10-13T16:56:10Z</dcterms:modified>
</cp:coreProperties>
</file>