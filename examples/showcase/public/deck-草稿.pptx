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这是一个面向公众的虚构服务方案示例，城市、馆舍和升级计划均为虚构。封面馆舍图是一张独立透明 PNG 插画，内部建筑、人物与绿植作为整体图片，不是逐项可编辑的矢量形状。实际对外说明应替换成经属地确认的馆址、服务和运营信息。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用“查书—预约—取书”说明一个可能的借阅路径，属于服务流程提案，不表示虚构城市已有网上检索或预约系统。需要由馆方核实实际入口、资源范围、保留期限和取书凭证，再决定线上与线下各自怎么办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平面图由 PowerPoint 原生形状和文本组成，可直接改分区名称、颜色与路径。它不是某座真实图书馆的测绘图，也不代表建筑条件已经具备。设计建议强调服务台可见、动静区域区分，以及从入口到服务点的连续通行；真实方案仍要现场走读并核对无障碍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是面向公众的活动公告字段模板，没有虚构具体活动名称、日期、地点或名额。右侧按阅读顺序呈现应当明确的主题对象、到场位置、报名路径和变更规则。真实页面应先填入经馆方确认的信息，并说明活动变化时读者从哪里获取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布前先确认地址、时间、联系方式和借阅规则，避免公众带着错误信息到场。右侧的核规则、现场走读、小范围试行和复盘是建议步骤，不代表当地已经安排了试运行，也没有设置虚构日期、预算或服务效果。馆方或主管部门应决定何时发布、谁负责更新，以及如何收集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768096"/>
            <a:ext cx="91440" cy="384048"/>
          </a:xfrm>
          <a:prstGeom prst="rect">
            <a:avLst/>
          </a:prstGeom>
          <a:solidFill>
            <a:srgbClr val="D7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49808"/>
            <a:ext cx="4480560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公共服务说明 · 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5440680" cy="113385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7344E"/>
                </a:solidFill>
                <a:latin typeface="Microsoft YaHei"/>
              </a:rPr>
              <a:t>社区图书馆
服务升级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999232"/>
            <a:ext cx="5120640" cy="658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7A78"/>
                </a:solidFill>
                <a:latin typeface="Microsoft YaHei"/>
              </a:rPr>
              <a:t>让附近的人更容易借阅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877056"/>
            <a:ext cx="5084064" cy="85953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13B4E"/>
                </a:solidFill>
                <a:latin typeface="Microsoft YaHei"/>
              </a:rPr>
              <a:t>从借阅流程、空间导向到活动通知，
把服务信息说清楚、放在看得到的地方。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5065776"/>
            <a:ext cx="4251960" cy="512064"/>
          </a:xfrm>
          <a:prstGeom prst="rect">
            <a:avLst/>
          </a:prstGeom>
          <a:solidFill>
            <a:srgbClr val="D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111496"/>
            <a:ext cx="3977639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44E"/>
                </a:solidFill>
                <a:latin typeface="Microsoft YaHei"/>
              </a:rPr>
              <a:t>虚构城市 · 方案概念，不代表真实馆舍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1170432"/>
            <a:ext cx="4297680" cy="4297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munity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081" y="1243584"/>
            <a:ext cx="4257229" cy="4462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15783" y="5650992"/>
            <a:ext cx="3127248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78"/>
                </a:solidFill>
                <a:latin typeface="Microsoft YaHei"/>
              </a:rPr>
              <a:t>馆舍插画为独立整体对象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6327648"/>
            <a:ext cx="10652760" cy="0"/>
          </a:xfrm>
          <a:prstGeom prst="line">
            <a:avLst/>
          </a:prstGeom>
          <a:ln w="1016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8096" y="6382512"/>
            <a:ext cx="9921240" cy="31089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A78"/>
                </a:solidFill>
                <a:latin typeface="Microsoft YaHei"/>
              </a:rPr>
              <a:t>虚构城市 · 服务方案示例｜非真实上线信息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382512"/>
            <a:ext cx="676656" cy="310896"/>
          </a:xfrm>
          <a:prstGeom prst="rect">
            <a:avLst/>
          </a:prstGeom>
          <a:noFill/>
        </p:spPr>
        <p:txBody>
          <a:bodyPr wrap="square" lIns="0" rIns="0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74320"/>
            <a:ext cx="5577840" cy="32004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01 / 到馆前后 · 流程提案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30936"/>
            <a:ext cx="10789920" cy="658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44E"/>
                </a:solidFill>
                <a:latin typeface="Microsoft YaHei"/>
              </a:rPr>
              <a:t>借阅流程拆成三步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225296"/>
            <a:ext cx="10241280" cy="438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A78"/>
                </a:solidFill>
                <a:latin typeface="Microsoft YaHei"/>
              </a:rPr>
              <a:t>每一步都把办理条件放在旁边，减少来回查找。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27632" y="2514600"/>
            <a:ext cx="8842248" cy="0"/>
          </a:xfrm>
          <a:prstGeom prst="line">
            <a:avLst/>
          </a:prstGeom>
          <a:ln w="2794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527048" y="1892807"/>
            <a:ext cx="1243584" cy="1243584"/>
          </a:xfrm>
          <a:prstGeom prst="ellipse">
            <a:avLst/>
          </a:prstGeom>
          <a:solidFill>
            <a:srgbClr val="2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1947672"/>
            <a:ext cx="1133856" cy="109728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46704"/>
            <a:ext cx="2468880" cy="51206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344E"/>
                </a:solidFill>
                <a:latin typeface="Microsoft YaHei"/>
              </a:rPr>
              <a:t>查书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50208"/>
            <a:ext cx="2743200" cy="82296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A78"/>
                </a:solidFill>
                <a:latin typeface="Microsoft YaHei"/>
              </a:rPr>
              <a:t>查看馆藏状态；
检索入口待属地确认。</a:t>
            </a:r>
          </a:p>
        </p:txBody>
      </p:sp>
      <p:sp>
        <p:nvSpPr>
          <p:cNvPr id="11" name="Oval 10"/>
          <p:cNvSpPr/>
          <p:nvPr/>
        </p:nvSpPr>
        <p:spPr>
          <a:xfrm>
            <a:off x="5458968" y="1892807"/>
            <a:ext cx="1243584" cy="1243584"/>
          </a:xfrm>
          <a:prstGeom prst="ellipse">
            <a:avLst/>
          </a:prstGeom>
          <a:solidFill>
            <a:srgbClr val="D7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2" y="1947672"/>
            <a:ext cx="1133856" cy="109728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46704"/>
            <a:ext cx="2468880" cy="51206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344E"/>
                </a:solidFill>
                <a:latin typeface="Microsoft YaHei"/>
              </a:rPr>
              <a:t>预约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950208"/>
            <a:ext cx="2743200" cy="82296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A78"/>
                </a:solidFill>
                <a:latin typeface="Microsoft YaHei"/>
              </a:rPr>
              <a:t>选择可预约资源；
范围与规则待确认。</a:t>
            </a:r>
          </a:p>
        </p:txBody>
      </p:sp>
      <p:sp>
        <p:nvSpPr>
          <p:cNvPr id="15" name="Oval 14"/>
          <p:cNvSpPr/>
          <p:nvPr/>
        </p:nvSpPr>
        <p:spPr>
          <a:xfrm>
            <a:off x="9390888" y="1892807"/>
            <a:ext cx="1243584" cy="1243584"/>
          </a:xfrm>
          <a:prstGeom prst="ellipse">
            <a:avLst/>
          </a:prstGeom>
          <a:solidFill>
            <a:srgbClr val="17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5752" y="1947672"/>
            <a:ext cx="1133856" cy="109728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346704"/>
            <a:ext cx="2468880" cy="51206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344E"/>
                </a:solidFill>
                <a:latin typeface="Microsoft YaHei"/>
              </a:rPr>
              <a:t>取书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950208"/>
            <a:ext cx="2743200" cy="82296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A78"/>
                </a:solidFill>
                <a:latin typeface="Microsoft YaHei"/>
              </a:rPr>
              <a:t>按通知到指定地点；
凭证与保留期待确认。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184648"/>
            <a:ext cx="10561320" cy="731520"/>
          </a:xfrm>
          <a:prstGeom prst="rect">
            <a:avLst/>
          </a:prstGeom>
          <a:solidFill>
            <a:srgbClr val="D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257800"/>
            <a:ext cx="10149840" cy="53035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44E"/>
                </a:solidFill>
                <a:latin typeface="Microsoft YaHei"/>
              </a:rPr>
              <a:t>待属地确认：检索入口 · 预约范围 · 保留期限 · 取书凭证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6327648"/>
            <a:ext cx="10652760" cy="0"/>
          </a:xfrm>
          <a:prstGeom prst="line">
            <a:avLst/>
          </a:prstGeom>
          <a:ln w="1016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8096" y="6382512"/>
            <a:ext cx="9921240" cy="31089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A78"/>
                </a:solidFill>
                <a:latin typeface="Microsoft YaHei"/>
              </a:rPr>
              <a:t>虚构城市 · 服务方案示例｜非真实上线信息｜流程为拟议示意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82512"/>
            <a:ext cx="676656" cy="310896"/>
          </a:xfrm>
          <a:prstGeom prst="rect">
            <a:avLst/>
          </a:prstGeom>
          <a:noFill/>
        </p:spPr>
        <p:txBody>
          <a:bodyPr wrap="square" lIns="0" rIns="0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74320"/>
            <a:ext cx="5577840" cy="32004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02 / 空间导向 · 概念平面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30936"/>
            <a:ext cx="10789920" cy="658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44E"/>
                </a:solidFill>
                <a:latin typeface="Microsoft YaHei"/>
              </a:rPr>
              <a:t>让入口、服务台和安静区一眼可辨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280160"/>
            <a:ext cx="6583680" cy="36576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77858"/>
                </a:solidFill>
                <a:latin typeface="Microsoft YaHei"/>
              </a:rPr>
              <a:t>动线分区示意 · 非真实馆舍平面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1773936"/>
            <a:ext cx="6693408" cy="4069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2011680"/>
            <a:ext cx="2496312" cy="1078992"/>
          </a:xfrm>
          <a:prstGeom prst="rect">
            <a:avLst/>
          </a:prstGeom>
          <a:solidFill>
            <a:srgbClr val="F5E4BA"/>
          </a:solidFill>
          <a:ln w="12700">
            <a:solidFill>
              <a:srgbClr val="F0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2212848" cy="585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44E"/>
                </a:solidFill>
                <a:latin typeface="Microsoft YaHei"/>
              </a:rPr>
              <a:t>儿童共读区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7328" y="2011680"/>
            <a:ext cx="3456432" cy="1078992"/>
          </a:xfrm>
          <a:prstGeom prst="rect">
            <a:avLst/>
          </a:prstGeom>
          <a:solidFill>
            <a:srgbClr val="D9ECE9"/>
          </a:solidFill>
          <a:ln w="12700">
            <a:solidFill>
              <a:srgbClr val="28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2240280"/>
            <a:ext cx="3163824" cy="585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44E"/>
                </a:solidFill>
                <a:latin typeface="Microsoft YaHei"/>
              </a:rPr>
              <a:t>安静阅览区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041648"/>
            <a:ext cx="2496312" cy="1325880"/>
          </a:xfrm>
          <a:prstGeom prst="rect">
            <a:avLst/>
          </a:prstGeom>
          <a:solidFill>
            <a:srgbClr val="2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315968"/>
            <a:ext cx="2212848" cy="73152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借还与
咨询台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7328" y="4041648"/>
            <a:ext cx="3456432" cy="1325880"/>
          </a:xfrm>
          <a:prstGeom prst="rect">
            <a:avLst/>
          </a:prstGeom>
          <a:solidFill>
            <a:srgbClr val="F7E7D4"/>
          </a:solidFill>
          <a:ln w="12700">
            <a:solidFill>
              <a:srgbClr val="D77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2" y="4315968"/>
            <a:ext cx="3163824" cy="73152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44E"/>
                </a:solidFill>
                <a:latin typeface="Microsoft YaHei"/>
              </a:rPr>
              <a:t>活动 / 共用空间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246120"/>
            <a:ext cx="6172200" cy="512064"/>
          </a:xfrm>
          <a:prstGeom prst="rect">
            <a:avLst/>
          </a:prstGeom>
          <a:solidFill>
            <a:srgbClr val="E9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3291840"/>
            <a:ext cx="5815584" cy="40233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入口 → 服务台 → 阅览区域：连续通行路线（提案）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36392"/>
            <a:ext cx="256032" cy="768096"/>
          </a:xfrm>
          <a:prstGeom prst="rect">
            <a:avLst/>
          </a:prstGeom>
          <a:solidFill>
            <a:srgbClr val="D7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925312"/>
            <a:ext cx="6583680" cy="29260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A78"/>
                </a:solidFill>
                <a:latin typeface="Microsoft YaHei"/>
              </a:rPr>
              <a:t>分区名称、通道和面积均为示意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1828800"/>
            <a:ext cx="3310128" cy="51206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44E"/>
                </a:solidFill>
                <a:latin typeface="Microsoft YaHei"/>
              </a:rPr>
              <a:t>导向原则</a:t>
            </a:r>
          </a:p>
        </p:txBody>
      </p:sp>
      <p:sp>
        <p:nvSpPr>
          <p:cNvPr id="20" name="Oval 19"/>
          <p:cNvSpPr/>
          <p:nvPr/>
        </p:nvSpPr>
        <p:spPr>
          <a:xfrm>
            <a:off x="7936992" y="2615184"/>
            <a:ext cx="347472" cy="347472"/>
          </a:xfrm>
          <a:prstGeom prst="ellipse">
            <a:avLst/>
          </a:prstGeom>
          <a:solidFill>
            <a:srgbClr val="D7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542032"/>
            <a:ext cx="2788920" cy="40233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先看见服务台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62656"/>
            <a:ext cx="2788920" cy="56692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78"/>
                </a:solidFill>
                <a:latin typeface="Microsoft YaHei"/>
              </a:rPr>
              <a:t>入口先指向服务台</a:t>
            </a:r>
          </a:p>
        </p:txBody>
      </p:sp>
      <p:sp>
        <p:nvSpPr>
          <p:cNvPr id="23" name="Oval 22"/>
          <p:cNvSpPr/>
          <p:nvPr/>
        </p:nvSpPr>
        <p:spPr>
          <a:xfrm>
            <a:off x="7936992" y="3730752"/>
            <a:ext cx="347472" cy="347472"/>
          </a:xfrm>
          <a:prstGeom prst="ellipse">
            <a:avLst/>
          </a:prstGeom>
          <a:solidFill>
            <a:srgbClr val="D7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657600"/>
            <a:ext cx="2788920" cy="40233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区分动静空间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78224"/>
            <a:ext cx="2788920" cy="56692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78"/>
                </a:solidFill>
                <a:latin typeface="Microsoft YaHei"/>
              </a:rPr>
              <a:t>儿童区与安静区分开</a:t>
            </a:r>
          </a:p>
        </p:txBody>
      </p:sp>
      <p:sp>
        <p:nvSpPr>
          <p:cNvPr id="26" name="Oval 25"/>
          <p:cNvSpPr/>
          <p:nvPr/>
        </p:nvSpPr>
        <p:spPr>
          <a:xfrm>
            <a:off x="7936992" y="4846320"/>
            <a:ext cx="347472" cy="347472"/>
          </a:xfrm>
          <a:prstGeom prst="ellipse">
            <a:avLst/>
          </a:prstGeom>
          <a:solidFill>
            <a:srgbClr val="D7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773168"/>
            <a:ext cx="2788920" cy="40233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保持路径连续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193792"/>
            <a:ext cx="2788920" cy="56692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78"/>
                </a:solidFill>
                <a:latin typeface="Microsoft YaHei"/>
              </a:rPr>
              <a:t>转角和高差处补上指引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6327648"/>
            <a:ext cx="10652760" cy="0"/>
          </a:xfrm>
          <a:prstGeom prst="line">
            <a:avLst/>
          </a:prstGeom>
          <a:ln w="1016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8096" y="6382512"/>
            <a:ext cx="9921240" cy="31089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A78"/>
                </a:solidFill>
                <a:latin typeface="Microsoft YaHei"/>
              </a:rPr>
              <a:t>虚构城市 · 服务方案示例｜非真实上线信息｜空间信息待属地核实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382512"/>
            <a:ext cx="676656" cy="310896"/>
          </a:xfrm>
          <a:prstGeom prst="rect">
            <a:avLst/>
          </a:prstGeom>
          <a:noFill/>
        </p:spPr>
        <p:txBody>
          <a:bodyPr wrap="square" lIns="0" rIns="0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74320"/>
            <a:ext cx="5577840" cy="32004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03 / 活动信息 · 空白模板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30936"/>
            <a:ext cx="10789920" cy="658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44E"/>
                </a:solidFill>
                <a:latin typeface="Microsoft YaHei"/>
              </a:rPr>
              <a:t>活动通知回答三件事：何时、何地、如何参加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3968496" cy="4425696"/>
          </a:xfrm>
          <a:prstGeom prst="rect">
            <a:avLst/>
          </a:prstGeom>
          <a:solidFill>
            <a:srgbClr val="D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3968496" cy="146304"/>
          </a:xfrm>
          <a:prstGeom prst="rect">
            <a:avLst/>
          </a:prstGeom>
          <a:solidFill>
            <a:srgbClr val="2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856231"/>
            <a:ext cx="3383280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活动公告模板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22576"/>
            <a:ext cx="3438144" cy="71323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44E"/>
                </a:solidFill>
                <a:latin typeface="Microsoft YaHei"/>
              </a:rPr>
              <a:t>活动名称待填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15568" y="3127248"/>
            <a:ext cx="3346704" cy="0"/>
          </a:xfrm>
          <a:prstGeom prst="line">
            <a:avLst/>
          </a:prstGeom>
          <a:ln w="1016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52144" y="3200400"/>
            <a:ext cx="1261872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26A78"/>
                </a:solidFill>
                <a:latin typeface="Microsoft YaHei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2" y="3200400"/>
            <a:ext cx="1938528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44E"/>
                </a:solidFill>
                <a:latin typeface="Microsoft YaHei"/>
              </a:rPr>
              <a:t>待属地确认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15568" y="3767328"/>
            <a:ext cx="3346704" cy="0"/>
          </a:xfrm>
          <a:prstGeom prst="line">
            <a:avLst/>
          </a:prstGeom>
          <a:ln w="1016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144" y="3840480"/>
            <a:ext cx="1261872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26A78"/>
                </a:solidFill>
                <a:latin typeface="Microsoft YaHei"/>
              </a:rPr>
              <a:t>地点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3840480"/>
            <a:ext cx="1938528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44E"/>
                </a:solidFill>
                <a:latin typeface="Microsoft YaHei"/>
              </a:rPr>
              <a:t>待属地确认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5568" y="4407408"/>
            <a:ext cx="3346704" cy="0"/>
          </a:xfrm>
          <a:prstGeom prst="line">
            <a:avLst/>
          </a:prstGeom>
          <a:ln w="1016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52144" y="4480560"/>
            <a:ext cx="1261872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26A78"/>
                </a:solidFill>
                <a:latin typeface="Microsoft YaHei"/>
              </a:rPr>
              <a:t>参与方式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2" y="4480560"/>
            <a:ext cx="1938528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44E"/>
                </a:solidFill>
                <a:latin typeface="Microsoft YaHei"/>
              </a:rPr>
              <a:t>待属地确认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15568" y="5047488"/>
            <a:ext cx="3346704" cy="0"/>
          </a:xfrm>
          <a:prstGeom prst="line">
            <a:avLst/>
          </a:prstGeom>
          <a:ln w="1016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52144" y="5120640"/>
            <a:ext cx="1261872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26A78"/>
                </a:solidFill>
                <a:latin typeface="Microsoft YaHei"/>
              </a:rPr>
              <a:t>对象 / 名额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" y="5120640"/>
            <a:ext cx="1938528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44E"/>
                </a:solidFill>
                <a:latin typeface="Microsoft YaHei"/>
              </a:rPr>
              <a:t>待属地确认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792224"/>
            <a:ext cx="5212080" cy="438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344E"/>
                </a:solidFill>
                <a:latin typeface="Microsoft YaHei"/>
              </a:rPr>
              <a:t>读者从看到信息到参加活动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41848" y="2542032"/>
            <a:ext cx="0" cy="2807208"/>
          </a:xfrm>
          <a:prstGeom prst="line">
            <a:avLst/>
          </a:prstGeom>
          <a:ln w="2540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422392" y="2496312"/>
            <a:ext cx="438912" cy="438912"/>
          </a:xfrm>
          <a:prstGeom prst="ellipse">
            <a:avLst/>
          </a:prstGeom>
          <a:solidFill>
            <a:srgbClr val="2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9824" y="2496312"/>
            <a:ext cx="384048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2432304"/>
            <a:ext cx="2542032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看活动内容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432304"/>
            <a:ext cx="2596896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78"/>
                </a:solidFill>
                <a:latin typeface="Microsoft YaHei"/>
              </a:rPr>
              <a:t>对象、主题与时长</a:t>
            </a:r>
          </a:p>
        </p:txBody>
      </p:sp>
      <p:sp>
        <p:nvSpPr>
          <p:cNvPr id="27" name="Oval 26"/>
          <p:cNvSpPr/>
          <p:nvPr/>
        </p:nvSpPr>
        <p:spPr>
          <a:xfrm>
            <a:off x="5422392" y="3364991"/>
            <a:ext cx="438912" cy="438912"/>
          </a:xfrm>
          <a:prstGeom prst="ellipse">
            <a:avLst/>
          </a:prstGeom>
          <a:solidFill>
            <a:srgbClr val="D7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9824" y="3364991"/>
            <a:ext cx="384048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3300984"/>
            <a:ext cx="2542032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查时间地点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300984"/>
            <a:ext cx="2596896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78"/>
                </a:solidFill>
                <a:latin typeface="Microsoft YaHei"/>
              </a:rPr>
              <a:t>地址与到场提示</a:t>
            </a:r>
          </a:p>
        </p:txBody>
      </p:sp>
      <p:sp>
        <p:nvSpPr>
          <p:cNvPr id="31" name="Oval 30"/>
          <p:cNvSpPr/>
          <p:nvPr/>
        </p:nvSpPr>
        <p:spPr>
          <a:xfrm>
            <a:off x="5422392" y="4233672"/>
            <a:ext cx="438912" cy="438912"/>
          </a:xfrm>
          <a:prstGeom prst="ellipse">
            <a:avLst/>
          </a:prstGeom>
          <a:solidFill>
            <a:srgbClr val="2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9824" y="4233672"/>
            <a:ext cx="384048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4169664"/>
            <a:ext cx="2542032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确认报名方式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169664"/>
            <a:ext cx="2596896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78"/>
                </a:solidFill>
                <a:latin typeface="Microsoft YaHei"/>
              </a:rPr>
              <a:t>线上 / 线下路径待确认</a:t>
            </a:r>
          </a:p>
        </p:txBody>
      </p:sp>
      <p:sp>
        <p:nvSpPr>
          <p:cNvPr id="35" name="Oval 34"/>
          <p:cNvSpPr/>
          <p:nvPr/>
        </p:nvSpPr>
        <p:spPr>
          <a:xfrm>
            <a:off x="5422392" y="5102352"/>
            <a:ext cx="438912" cy="438912"/>
          </a:xfrm>
          <a:prstGeom prst="ellipse">
            <a:avLst/>
          </a:prstGeom>
          <a:solidFill>
            <a:srgbClr val="D7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9824" y="5102352"/>
            <a:ext cx="384048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5038344"/>
            <a:ext cx="2542032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查看提醒规则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5038344"/>
            <a:ext cx="2596896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78"/>
                </a:solidFill>
                <a:latin typeface="Microsoft YaHei"/>
              </a:rPr>
              <a:t>变更与取消方式待确认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20" y="6327648"/>
            <a:ext cx="10652760" cy="0"/>
          </a:xfrm>
          <a:prstGeom prst="line">
            <a:avLst/>
          </a:prstGeom>
          <a:ln w="1016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8096" y="6382512"/>
            <a:ext cx="9921240" cy="31089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A78"/>
                </a:solidFill>
                <a:latin typeface="Microsoft YaHei"/>
              </a:rPr>
              <a:t>虚构城市 · 服务方案示例｜非真实上线信息｜活动名称、时段、地点和规则均待确认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382512"/>
            <a:ext cx="676656" cy="310896"/>
          </a:xfrm>
          <a:prstGeom prst="rect">
            <a:avLst/>
          </a:prstGeom>
          <a:noFill/>
        </p:spPr>
        <p:txBody>
          <a:bodyPr wrap="square" lIns="0" rIns="0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74320"/>
            <a:ext cx="5577840" cy="32004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04 / 发布前核对 · 待属地确认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30936"/>
            <a:ext cx="10789920" cy="658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44E"/>
                </a:solidFill>
                <a:latin typeface="Microsoft YaHei"/>
              </a:rPr>
              <a:t>上线前先把四项本地信息核实清楚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87552" y="1883664"/>
            <a:ext cx="0" cy="3438144"/>
          </a:xfrm>
          <a:prstGeom prst="line">
            <a:avLst/>
          </a:prstGeom>
          <a:ln w="2540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86384" y="194767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7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176" y="1847088"/>
            <a:ext cx="3255264" cy="53035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场馆地址与服务入口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47088"/>
            <a:ext cx="1426464" cy="53035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77858"/>
                </a:solidFill>
                <a:latin typeface="Microsoft YaHei"/>
              </a:rPr>
              <a:t>待属地确认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7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2688336"/>
            <a:ext cx="3255264" cy="53035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开放时段与节假日安排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88336"/>
            <a:ext cx="1426464" cy="53035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77858"/>
                </a:solidFill>
                <a:latin typeface="Microsoft YaHei"/>
              </a:rPr>
              <a:t>待属地确认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63016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7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8176" y="3529584"/>
            <a:ext cx="3255264" cy="53035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联系电话与反馈渠道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29584"/>
            <a:ext cx="1426464" cy="53035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77858"/>
                </a:solidFill>
                <a:latin typeface="Microsoft YaHei"/>
              </a:rPr>
              <a:t>待属地确认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44714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7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8176" y="4370832"/>
            <a:ext cx="3255264" cy="53035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借阅、预约与续借规则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370832"/>
            <a:ext cx="1426464" cy="53035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77858"/>
                </a:solidFill>
                <a:latin typeface="Microsoft YaHei"/>
              </a:rPr>
              <a:t>待属地确认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92240" y="1700784"/>
            <a:ext cx="0" cy="4005072"/>
          </a:xfrm>
          <a:prstGeom prst="line">
            <a:avLst/>
          </a:prstGeom>
          <a:ln w="1524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67728" y="1810512"/>
            <a:ext cx="4023360" cy="51206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87A78"/>
                </a:solidFill>
                <a:latin typeface="Microsoft YaHei"/>
              </a:rPr>
              <a:t>建议采用小步试行</a:t>
            </a:r>
          </a:p>
        </p:txBody>
      </p:sp>
      <p:sp>
        <p:nvSpPr>
          <p:cNvPr id="20" name="Oval 19"/>
          <p:cNvSpPr/>
          <p:nvPr/>
        </p:nvSpPr>
        <p:spPr>
          <a:xfrm>
            <a:off x="7004304" y="2606040"/>
            <a:ext cx="475488" cy="475488"/>
          </a:xfrm>
          <a:prstGeom prst="ellipse">
            <a:avLst/>
          </a:prstGeom>
          <a:solidFill>
            <a:srgbClr val="2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1736" y="2606040"/>
            <a:ext cx="420624" cy="45720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606040"/>
            <a:ext cx="3474720" cy="47548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核规则文本</a:t>
            </a:r>
          </a:p>
        </p:txBody>
      </p:sp>
      <p:sp>
        <p:nvSpPr>
          <p:cNvPr id="23" name="Oval 22"/>
          <p:cNvSpPr/>
          <p:nvPr/>
        </p:nvSpPr>
        <p:spPr>
          <a:xfrm>
            <a:off x="7004304" y="3374136"/>
            <a:ext cx="475488" cy="475488"/>
          </a:xfrm>
          <a:prstGeom prst="ellipse">
            <a:avLst/>
          </a:prstGeom>
          <a:solidFill>
            <a:srgbClr val="D7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31736" y="3374136"/>
            <a:ext cx="420624" cy="45720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374136"/>
            <a:ext cx="3474720" cy="47548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现场走读</a:t>
            </a:r>
          </a:p>
        </p:txBody>
      </p:sp>
      <p:sp>
        <p:nvSpPr>
          <p:cNvPr id="26" name="Oval 25"/>
          <p:cNvSpPr/>
          <p:nvPr/>
        </p:nvSpPr>
        <p:spPr>
          <a:xfrm>
            <a:off x="7004304" y="4142232"/>
            <a:ext cx="475488" cy="475488"/>
          </a:xfrm>
          <a:prstGeom prst="ellipse">
            <a:avLst/>
          </a:prstGeom>
          <a:solidFill>
            <a:srgbClr val="2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1736" y="4142232"/>
            <a:ext cx="420624" cy="45720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4142232"/>
            <a:ext cx="3474720" cy="47548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小范围试行</a:t>
            </a:r>
          </a:p>
        </p:txBody>
      </p:sp>
      <p:sp>
        <p:nvSpPr>
          <p:cNvPr id="29" name="Oval 28"/>
          <p:cNvSpPr/>
          <p:nvPr/>
        </p:nvSpPr>
        <p:spPr>
          <a:xfrm>
            <a:off x="7004304" y="4910328"/>
            <a:ext cx="475488" cy="475488"/>
          </a:xfrm>
          <a:prstGeom prst="ellipse">
            <a:avLst/>
          </a:prstGeom>
          <a:solidFill>
            <a:srgbClr val="D7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31736" y="4910328"/>
            <a:ext cx="420624" cy="45720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4910328"/>
            <a:ext cx="3474720" cy="47548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44E"/>
                </a:solidFill>
                <a:latin typeface="Microsoft YaHei"/>
              </a:rPr>
              <a:t>收集问题并复盘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5559552"/>
            <a:ext cx="4297680" cy="45720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78"/>
                </a:solidFill>
                <a:latin typeface="Microsoft YaHei"/>
              </a:rPr>
              <a:t>运营安排由属地馆方或主管部门确认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6327648"/>
            <a:ext cx="10652760" cy="0"/>
          </a:xfrm>
          <a:prstGeom prst="line">
            <a:avLst/>
          </a:prstGeom>
          <a:ln w="10160">
            <a:solidFill>
              <a:srgbClr val="B8C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8096" y="6382512"/>
            <a:ext cx="9921240" cy="31089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A78"/>
                </a:solidFill>
                <a:latin typeface="Microsoft YaHei"/>
              </a:rPr>
              <a:t>虚构城市 · 服务方案示例｜非真实上线信息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382512"/>
            <a:ext cx="676656" cy="310896"/>
          </a:xfrm>
          <a:prstGeom prst="rect">
            <a:avLst/>
          </a:prstGeom>
          <a:noFill/>
        </p:spPr>
        <p:txBody>
          <a:bodyPr wrap="square" lIns="0" rIns="0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A78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